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5" r:id="rId10"/>
    <p:sldId id="264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E88AE-BE7A-24AC-A524-D6CF8CDDDF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A1748F-3513-4E89-4826-88C85AC0BF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9E7E2-30E8-FF6E-BECD-650BC0594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0A56C-D4C7-40B0-8D6F-8FE70753BC46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726A3-4F64-2D99-4DB8-6561C8591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1B94F-511E-3585-F655-61CDA4013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CAB31-BCB5-416B-A520-A4E11823B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406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46540-1913-2E5F-4F6A-DCD30C4FD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FA12E-88D4-7198-FDB4-689EAC22B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CC9FF-13B2-69A0-C789-CBBB7B51B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0A56C-D4C7-40B0-8D6F-8FE70753BC46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F6567-A214-03F9-9C17-5B3F4722A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65E0F-B39A-B677-DD0D-D7CAE250E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CAB31-BCB5-416B-A520-A4E11823B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071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76A0C-E444-96C4-78FB-76F25E2CA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9A2F3-DB29-2B64-4A41-C645AB14F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C97F7-59C9-0E07-9837-52864E743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0A56C-D4C7-40B0-8D6F-8FE70753BC46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28467-B8CD-07EA-DB99-7F1C119B7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3793C-8995-9879-EA96-6E00A4426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CAB31-BCB5-416B-A520-A4E11823B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450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6E9F0-448F-583C-884A-ED659F54B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A287F-324B-412B-331E-328A8A6D53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158C7E-C1E3-9E02-57AC-D710580EC1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B65B81-5B8C-E4BA-A585-B665C934C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0A56C-D4C7-40B0-8D6F-8FE70753BC46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753A34-B3CD-7BB3-5A4B-D4879A737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96208-9F86-4130-9675-71E64E7F1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CAB31-BCB5-416B-A520-A4E11823B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43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1B746-87AE-D5A5-D566-03B2D14FE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E35BE-3804-BD48-C197-6D3067EC7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6FBE88-B796-07D7-417A-8687AFB38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C097F1-FA4C-3761-7863-603E48D40F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1D4C71-853E-722E-C0C5-F1C7774326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2F66B3-E2C8-F8F6-2B75-5D1B60DEC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0A56C-D4C7-40B0-8D6F-8FE70753BC46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7025F3-A3A4-1B52-FC3A-E1C24F2A4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D6A5EE-11CB-1E0C-96D5-29E4DB15F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CAB31-BCB5-416B-A520-A4E11823B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43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B5A2B-088D-D447-0DA7-8F6E773AF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35C739-0D41-9059-89D8-0942FC664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0A56C-D4C7-40B0-8D6F-8FE70753BC46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F4E689-01D1-81EB-F5C3-613E95CAD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40B6D7-CD7C-E87E-BBB4-D64023979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CAB31-BCB5-416B-A520-A4E11823B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6454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77AA81-E385-1021-04AA-FA3693228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0A56C-D4C7-40B0-8D6F-8FE70753BC46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64E427-C5D3-5F90-9DD2-4DAC9BDA0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139F8-BCD6-13BF-A456-9E6DD4C16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CAB31-BCB5-416B-A520-A4E11823B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117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54ECD-2A02-FA0B-4407-AA9821E8A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E346B-9489-89E6-AC30-BF0596227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5BC4DF-FFEB-60E8-6131-E80F2A79F2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E9A06-0E43-52C7-ACCF-6D149F8F7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0A56C-D4C7-40B0-8D6F-8FE70753BC46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AC3BE-B87F-E7D8-1E5D-2763F86E1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89DC39-BC91-6C5C-19B9-35065BB0B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CAB31-BCB5-416B-A520-A4E11823B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421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23E74-6CDC-7423-7B76-12CF956C8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9813F4-A894-6BDD-985D-87EED26501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18CEF4-E55B-F397-2886-419C51CDB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A199AD-8F53-0B07-9669-D7F4A187B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0A56C-D4C7-40B0-8D6F-8FE70753BC46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20CA77-ADB6-ADC8-83CC-C9A954356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36A6B5-7DB6-D127-F2A7-59E99B9A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CAB31-BCB5-416B-A520-A4E11823B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113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AAB7F-6034-5827-AADD-D5E34867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F86EFC-0672-39E3-9501-1124B2562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3E041-27AD-DDE4-825B-1106D7E4B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0A56C-D4C7-40B0-8D6F-8FE70753BC46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4FC45-C463-0C5E-0641-80EC4B00D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576D1-AE40-6CC9-1DC9-E195C88C0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CAB31-BCB5-416B-A520-A4E11823B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728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070BD6-C03A-C54E-CA1F-9A8FB79158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10CC61-5BF9-BA85-EDDA-BF494DE7C2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C3D40-685C-E91E-E6D5-9B07B042A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0A56C-D4C7-40B0-8D6F-8FE70753BC46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34D1B-A3F1-EAF8-5279-291FF0224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B8642-20D7-D5E5-F21F-30B6A4ECB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CAB31-BCB5-416B-A520-A4E11823B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8970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650E5C-0538-B26E-A60A-59C08A9B3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C053F2-C86E-F615-4B93-07523087C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5898C-6CF5-7F6A-AB10-58FD23D507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A0A56C-D4C7-40B0-8D6F-8FE70753BC46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4C78C-39DA-1847-F025-49F73130E4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C66D1-B7FC-91E7-4596-AF5E8223A4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CAB31-BCB5-416B-A520-A4E11823B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905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C0B30-1132-F7E3-EC6C-F217E6E1D5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Statements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D6CEB-59A8-C675-7B19-00E685E5F7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- 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623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7E8E0-0AC1-8B86-95C1-658C9814E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Statements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7B39E-7438-E365-65B9-F979B89FB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228" y="1690688"/>
            <a:ext cx="10288571" cy="4486275"/>
          </a:xfrm>
        </p:spPr>
        <p:txBody>
          <a:bodyPr/>
          <a:lstStyle/>
          <a:p>
            <a:pPr lvl="0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known as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making / Selection statements.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making is the most important aspect of almost all the programming languages.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statements have the ability to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values (make decisions) and allows to run a particular block of code depending on the outcome of the condition i.e., either TRUE or FALSE.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367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15F6F-2B13-F66B-727E-9D5206685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Statements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4E572-56C3-CEA7-1FEC-1B2DACBF4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534" y="1583703"/>
            <a:ext cx="10392266" cy="4593260"/>
          </a:xfrm>
        </p:spPr>
        <p:txBody>
          <a:bodyPr>
            <a:normAutofit lnSpcReduction="10000"/>
          </a:bodyPr>
          <a:lstStyle/>
          <a:p>
            <a:pPr lvl="0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supports different decision making statements. They are: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if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if-else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nested if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Elif statement</a:t>
            </a:r>
          </a:p>
          <a:p>
            <a:pPr lvl="1" algn="just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requires the block to be indented.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268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31AE7-1ADB-D58E-E734-DC297156A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if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7C0EB-99D2-DB8F-541D-BBB5F865B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1984"/>
            <a:ext cx="10515600" cy="456497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general form/syntax of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statement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condition: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statement(s)     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#if block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851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B265FEC-7B9E-F85F-5AA2-9DC38FC036BC}"/>
              </a:ext>
            </a:extLst>
          </p:cNvPr>
          <p:cNvSpPr/>
          <p:nvPr/>
        </p:nvSpPr>
        <p:spPr>
          <a:xfrm>
            <a:off x="7352907" y="1168924"/>
            <a:ext cx="4062953" cy="43363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4AA15A9-2CBB-9831-E5DD-7972C708173E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352907" y="1168924"/>
            <a:ext cx="4062953" cy="43363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0CF02C-0FE1-F5DA-7B1D-288FDBB47DCF}"/>
              </a:ext>
            </a:extLst>
          </p:cNvPr>
          <p:cNvSpPr txBox="1"/>
          <p:nvPr/>
        </p:nvSpPr>
        <p:spPr>
          <a:xfrm>
            <a:off x="160255" y="424206"/>
            <a:ext cx="7579151" cy="5762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" marR="0">
              <a:spcBef>
                <a:spcPts val="700"/>
              </a:spcBef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Flowchart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 if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statement is shown in 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figure: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690"/>
              </a:spcBef>
              <a:buSzPts val="1200"/>
              <a:buFont typeface="Symbol" panose="05050102010706020507" pitchFamily="18" charset="2"/>
              <a:buChar char=""/>
              <a:tabLst>
                <a:tab pos="471805" algn="l"/>
              </a:tabLst>
            </a:pPr>
            <a:r>
              <a:rPr lang="en-US" sz="18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Above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syntax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started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with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the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800" spc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reserved</a:t>
            </a:r>
            <a:r>
              <a:rPr lang="en-US" sz="1800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800" spc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word</a:t>
            </a:r>
            <a:r>
              <a:rPr lang="en-US" sz="1800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800" spc="-2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if</a:t>
            </a:r>
            <a:r>
              <a:rPr lang="en-US" sz="1800" spc="-2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.</a:t>
            </a:r>
            <a:endParaRPr lang="en-IN" sz="1600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marL="342900" marR="2524125" lvl="0" indent="-342900">
              <a:lnSpc>
                <a:spcPct val="145000"/>
              </a:lnSpc>
              <a:spcBef>
                <a:spcPts val="690"/>
              </a:spcBef>
              <a:buSzPts val="1200"/>
              <a:buFont typeface="Symbol" panose="05050102010706020507" pitchFamily="18" charset="2"/>
              <a:buChar char=""/>
              <a:tabLst>
                <a:tab pos="471805" algn="l"/>
              </a:tabLst>
            </a:pPr>
            <a:r>
              <a:rPr lang="en-US" sz="18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The</a:t>
            </a:r>
            <a:r>
              <a:rPr lang="en-US" sz="1800" spc="-3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condition</a:t>
            </a:r>
            <a:r>
              <a:rPr lang="en-US" sz="1800" spc="-2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is</a:t>
            </a:r>
            <a:r>
              <a:rPr lang="en-US" sz="1800" spc="-2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a</a:t>
            </a:r>
            <a:r>
              <a:rPr lang="en-US" sz="1800" spc="-3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800" spc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Boolean</a:t>
            </a:r>
            <a:r>
              <a:rPr lang="en-US" sz="1800" spc="-2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800" spc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expression</a:t>
            </a:r>
            <a:r>
              <a:rPr lang="en-US" sz="1800" spc="-2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that</a:t>
            </a:r>
            <a:r>
              <a:rPr lang="en-US" sz="1800" spc="-2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determines whether or not the body will be executed.</a:t>
            </a:r>
            <a:endParaRPr lang="en-IN" sz="1600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marL="342900" marR="0" lvl="0" indent="-342900">
              <a:spcBef>
                <a:spcPts val="95"/>
              </a:spcBef>
              <a:buSzPts val="1200"/>
              <a:buFont typeface="Symbol" panose="05050102010706020507" pitchFamily="18" charset="2"/>
              <a:buChar char=""/>
              <a:tabLst>
                <a:tab pos="471805" algn="l"/>
              </a:tabLst>
            </a:pPr>
            <a:r>
              <a:rPr lang="en-US" sz="1800" spc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A</a:t>
            </a:r>
            <a:r>
              <a:rPr lang="en-US" sz="1800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800" spc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colon (:) must follow the</a:t>
            </a:r>
            <a:r>
              <a:rPr lang="en-US" sz="1800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800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condition.</a:t>
            </a:r>
            <a:endParaRPr lang="en-IN" sz="1600" spc="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marL="342900" marR="553720" lvl="0" indent="-342900" algn="just">
              <a:lnSpc>
                <a:spcPct val="145000"/>
              </a:lnSpc>
              <a:spcBef>
                <a:spcPts val="690"/>
              </a:spcBef>
              <a:buSzPts val="1200"/>
              <a:buFont typeface="Symbol" panose="05050102010706020507" pitchFamily="18" charset="2"/>
              <a:buChar char=""/>
              <a:tabLst>
                <a:tab pos="471805" algn="l"/>
              </a:tabLst>
            </a:pPr>
            <a:r>
              <a:rPr lang="en-US" sz="18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If the condition is true, then it the block of statement(s) known as “if-block (or) body of if” gets executed.</a:t>
            </a:r>
            <a:endParaRPr lang="en-IN" sz="1600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marL="342900" marR="552450" lvl="0" indent="-342900" algn="just">
              <a:lnSpc>
                <a:spcPct val="145000"/>
              </a:lnSpc>
              <a:spcBef>
                <a:spcPts val="95"/>
              </a:spcBef>
              <a:buSzPts val="1200"/>
              <a:buFont typeface="Symbol" panose="05050102010706020507" pitchFamily="18" charset="2"/>
              <a:buChar char=""/>
              <a:tabLst>
                <a:tab pos="471805" algn="l"/>
              </a:tabLst>
            </a:pPr>
            <a:r>
              <a:rPr lang="en-US" sz="18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If the condition is false, then control doesn’t enter into if block and executes the statements followed by if block.</a:t>
            </a:r>
            <a:endParaRPr lang="en-IN" sz="1600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marL="342900" marR="0" lvl="0" indent="-342900" algn="just">
              <a:spcBef>
                <a:spcPts val="90"/>
              </a:spcBef>
              <a:buSzPts val="1200"/>
              <a:buFont typeface="Symbol" panose="05050102010706020507" pitchFamily="18" charset="2"/>
              <a:buChar char=""/>
              <a:tabLst>
                <a:tab pos="471170" algn="l"/>
              </a:tabLst>
            </a:pPr>
            <a:r>
              <a:rPr lang="en-US" sz="18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In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Python,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800" spc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the</a:t>
            </a:r>
            <a:r>
              <a:rPr lang="en-US" sz="1800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800" spc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body</a:t>
            </a:r>
            <a:r>
              <a:rPr lang="en-US" sz="1800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800" spc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of</a:t>
            </a:r>
            <a:r>
              <a:rPr lang="en-US" sz="1800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800" spc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if</a:t>
            </a:r>
            <a:r>
              <a:rPr lang="en-US" sz="1800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800" spc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statement</a:t>
            </a:r>
            <a:r>
              <a:rPr lang="en-US" sz="1800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800" spc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is</a:t>
            </a:r>
            <a:r>
              <a:rPr lang="en-US" sz="1800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800" spc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indicated by</a:t>
            </a:r>
            <a:r>
              <a:rPr lang="en-US" sz="1800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800" spc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the</a:t>
            </a:r>
            <a:r>
              <a:rPr lang="en-US" sz="1800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800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indentation.</a:t>
            </a:r>
            <a:endParaRPr lang="en-IN" sz="1600" spc="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marL="342900" marR="554355" lvl="0" indent="-342900" algn="just">
              <a:lnSpc>
                <a:spcPct val="147000"/>
              </a:lnSpc>
              <a:spcBef>
                <a:spcPts val="690"/>
              </a:spcBef>
              <a:buSzPts val="1200"/>
              <a:buFont typeface="Symbol" panose="05050102010706020507" pitchFamily="18" charset="2"/>
              <a:buChar char=""/>
              <a:tabLst>
                <a:tab pos="471805" algn="l"/>
              </a:tabLst>
            </a:pPr>
            <a:r>
              <a:rPr lang="en-US" sz="18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The statements within the block must all be indented the same number of spaces from the left. The body starts with an indentation and the first </a:t>
            </a:r>
            <a:r>
              <a:rPr lang="en-US" sz="1800" spc="0" dirty="0" err="1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unintented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line marks the</a:t>
            </a:r>
            <a:r>
              <a:rPr lang="en-US" sz="1800" spc="2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end.</a:t>
            </a:r>
            <a:endParaRPr lang="en-IN" sz="1600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218302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0ABF3-DE13-89DB-0B54-9D41DB319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BACF6-4AC0-76DA-D91B-8768F76E3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826" y="1527142"/>
            <a:ext cx="10429973" cy="4649821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 = int(input("enter the number: "))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num%2 == 0: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print("Number is even")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the number: 10 Number is even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228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1E8F2-ECAC-D7D7-6DCB-82631691C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if-else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426B1-EF29-D641-1B37-57445D382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9240" y="1690688"/>
            <a:ext cx="10354559" cy="448627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general form/syntax of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if-else statement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condition: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statement(s) # if block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else: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statement(s) #else block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476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ED51ABB-AB6E-8767-3A65-C8B5FF8FE03A}"/>
              </a:ext>
            </a:extLst>
          </p:cNvPr>
          <p:cNvSpPr/>
          <p:nvPr/>
        </p:nvSpPr>
        <p:spPr>
          <a:xfrm>
            <a:off x="7588577" y="1545996"/>
            <a:ext cx="4015819" cy="40440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Image 3">
            <a:extLst>
              <a:ext uri="{FF2B5EF4-FFF2-40B4-BE49-F238E27FC236}">
                <a16:creationId xmlns:a16="http://schemas.microsoft.com/office/drawing/2014/main" id="{A96AFB81-B72E-CD63-B061-0DA96B90FBD3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88577" y="1267905"/>
            <a:ext cx="4204355" cy="44635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C89488-EC6E-B55C-9293-EFCE8EF5A6BC}"/>
              </a:ext>
            </a:extLst>
          </p:cNvPr>
          <p:cNvSpPr txBox="1"/>
          <p:nvPr/>
        </p:nvSpPr>
        <p:spPr>
          <a:xfrm>
            <a:off x="587604" y="659876"/>
            <a:ext cx="7000973" cy="5362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" marR="3387725">
              <a:lnSpc>
                <a:spcPct val="150000"/>
              </a:lnSpc>
              <a:spcBef>
                <a:spcPts val="5"/>
              </a:spcBef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Flowchart</a:t>
            </a:r>
            <a:r>
              <a:rPr lang="en-US" sz="24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</a:t>
            </a:r>
            <a:r>
              <a:rPr lang="en-US" sz="24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if-else</a:t>
            </a:r>
            <a:r>
              <a:rPr lang="en-US" sz="24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statement</a:t>
            </a:r>
            <a:r>
              <a:rPr lang="en-US" sz="24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sz="24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shown</a:t>
            </a:r>
            <a:r>
              <a:rPr lang="en-US" sz="24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 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figure: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553085" lvl="0" indent="-342900">
              <a:lnSpc>
                <a:spcPct val="145000"/>
              </a:lnSpc>
              <a:spcBef>
                <a:spcPts val="10"/>
              </a:spcBef>
              <a:buSzPts val="1200"/>
              <a:buFont typeface="Symbol" panose="05050102010706020507" pitchFamily="18" charset="2"/>
              <a:buChar char=""/>
              <a:tabLst>
                <a:tab pos="471805" algn="l"/>
              </a:tabLst>
            </a:pP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If</a:t>
            </a:r>
            <a:r>
              <a:rPr lang="en-US" sz="2400" spc="19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the</a:t>
            </a:r>
            <a:r>
              <a:rPr lang="en-US" sz="2400" spc="19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condition</a:t>
            </a:r>
            <a:r>
              <a:rPr lang="en-US" sz="2400" spc="2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is</a:t>
            </a:r>
            <a:r>
              <a:rPr lang="en-US" sz="2400" spc="19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true,</a:t>
            </a:r>
            <a:r>
              <a:rPr lang="en-US" sz="2400" spc="19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then</a:t>
            </a:r>
            <a:r>
              <a:rPr lang="en-US" sz="2400" spc="19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the</a:t>
            </a:r>
            <a:r>
              <a:rPr lang="en-US" sz="2400" spc="19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if-block</a:t>
            </a:r>
            <a:r>
              <a:rPr lang="en-US" sz="2400" spc="19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is</a:t>
            </a:r>
            <a:r>
              <a:rPr lang="en-US" sz="2400" spc="2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executed.</a:t>
            </a:r>
            <a:r>
              <a:rPr lang="en-US" sz="2400" spc="19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Otherwise,</a:t>
            </a:r>
            <a:r>
              <a:rPr lang="en-US" sz="2400" spc="19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the</a:t>
            </a:r>
            <a:r>
              <a:rPr lang="en-US" sz="2400" spc="19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else-block</a:t>
            </a:r>
            <a:r>
              <a:rPr lang="en-US" sz="2400" spc="19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is 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executed.</a:t>
            </a:r>
            <a:endParaRPr lang="en-IN" sz="2400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marL="342900" marR="556895" lvl="0" indent="-342900">
              <a:lnSpc>
                <a:spcPct val="145000"/>
              </a:lnSpc>
              <a:spcBef>
                <a:spcPts val="65"/>
              </a:spcBef>
              <a:buSzPts val="1200"/>
              <a:buFont typeface="Symbol" panose="05050102010706020507" pitchFamily="18" charset="2"/>
              <a:buChar char=""/>
              <a:tabLst>
                <a:tab pos="471805" algn="l"/>
              </a:tabLst>
            </a:pP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The if-else statement provides an else block combined with the if statement which is executed in the false case of the condition.</a:t>
            </a:r>
            <a:endParaRPr lang="en-IN" sz="2400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marL="342900" marR="0" lvl="0" indent="-342900">
              <a:spcBef>
                <a:spcPts val="75"/>
              </a:spcBef>
              <a:buSzPts val="1200"/>
              <a:buFont typeface="Symbol" panose="05050102010706020507" pitchFamily="18" charset="2"/>
              <a:buChar char=""/>
              <a:tabLst>
                <a:tab pos="471805" algn="l"/>
              </a:tabLst>
            </a:pP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Here,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the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keywords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used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are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if and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else.</a:t>
            </a:r>
            <a:endParaRPr lang="en-IN" sz="2400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34605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B78A6-C0D9-8C45-7ED3-CB86B1F13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5DAEE-65C3-9701-B00C-6AE5987D0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8351"/>
            <a:ext cx="10515600" cy="4998612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 = int(input("enter the number:"))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num%2 == 0: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print("Number is even")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else: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print("Number is odd")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the number: 11 Number is odd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the number: 12 Number is even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422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E22651-ED2F-FD1F-CB3E-A74F51D10284}"/>
              </a:ext>
            </a:extLst>
          </p:cNvPr>
          <p:cNvSpPr txBox="1"/>
          <p:nvPr/>
        </p:nvSpPr>
        <p:spPr>
          <a:xfrm>
            <a:off x="377072" y="0"/>
            <a:ext cx="12075736" cy="6846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" marR="0">
              <a:spcBef>
                <a:spcPts val="300"/>
              </a:spcBef>
              <a:buNone/>
            </a:pP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nested</a:t>
            </a:r>
            <a:r>
              <a:rPr lang="en-US" sz="2000" b="1" kern="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kern="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if:</a:t>
            </a:r>
            <a:endParaRPr lang="en-IN" sz="20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4605" marR="579755">
              <a:lnSpc>
                <a:spcPct val="150000"/>
              </a:lnSpc>
              <a:spcBef>
                <a:spcPts val="690"/>
              </a:spcBef>
              <a:buNone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When a series of decision are involved, we may have to use more than one if-else statement</a:t>
            </a:r>
            <a:r>
              <a:rPr lang="en-US" sz="20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 the nested form.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4605" marR="0">
              <a:buNone/>
            </a:pPr>
            <a:r>
              <a:rPr lang="en-US" sz="2000" b="1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Syntax:</a:t>
            </a:r>
            <a:endParaRPr lang="en-IN" sz="20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4605" marR="3923030">
              <a:lnSpc>
                <a:spcPct val="150000"/>
              </a:lnSpc>
              <a:spcBef>
                <a:spcPts val="695"/>
              </a:spcBef>
              <a:buNone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20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general</a:t>
            </a:r>
            <a:r>
              <a:rPr lang="en-US" sz="20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form/syntax</a:t>
            </a:r>
            <a:r>
              <a:rPr lang="en-US" sz="20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20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nested</a:t>
            </a:r>
            <a:r>
              <a:rPr lang="en-US" sz="2000" u="sng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if</a:t>
            </a:r>
            <a:r>
              <a:rPr lang="en-US" sz="20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 </a:t>
            </a:r>
          </a:p>
          <a:p>
            <a:pPr marL="14605" marR="3923030">
              <a:lnSpc>
                <a:spcPct val="150000"/>
              </a:lnSpc>
              <a:spcBef>
                <a:spcPts val="695"/>
              </a:spcBef>
              <a:buNone/>
            </a:pP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if condition1:</a:t>
            </a:r>
            <a:endParaRPr lang="en-IN" sz="20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71805" marR="4563110" indent="-228600">
              <a:lnSpc>
                <a:spcPct val="150000"/>
              </a:lnSpc>
              <a:buNone/>
            </a:pP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if condition2: </a:t>
            </a:r>
          </a:p>
          <a:p>
            <a:pPr marL="471805" marR="4563110" indent="-228600">
              <a:lnSpc>
                <a:spcPct val="150000"/>
              </a:lnSpc>
              <a:buNone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statement1</a:t>
            </a:r>
            <a:r>
              <a:rPr lang="en-US" sz="2000" spc="18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#</a:t>
            </a:r>
            <a:r>
              <a:rPr lang="en-US" sz="2000" spc="-6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block1</a:t>
            </a:r>
            <a:endParaRPr lang="en-IN" sz="20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43205" marR="0">
              <a:buNone/>
            </a:pPr>
            <a:r>
              <a:rPr lang="en-US" sz="2000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else:</a:t>
            </a:r>
            <a:endParaRPr lang="en-IN" sz="20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71805" marR="0">
              <a:spcBef>
                <a:spcPts val="690"/>
              </a:spcBef>
              <a:buNone/>
            </a:pP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statement2</a:t>
            </a:r>
            <a:r>
              <a:rPr lang="en-US" sz="2000" spc="14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#</a:t>
            </a:r>
            <a:r>
              <a:rPr lang="en-US" sz="2000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block2</a:t>
            </a:r>
            <a:endParaRPr lang="en-IN" sz="20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4605" marR="0">
              <a:spcBef>
                <a:spcPts val="695"/>
              </a:spcBef>
              <a:buNone/>
            </a:pPr>
            <a:r>
              <a:rPr lang="en-US" sz="2000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else:</a:t>
            </a:r>
            <a:endParaRPr lang="en-IN" sz="20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71805" marR="4563110" indent="-228600">
              <a:lnSpc>
                <a:spcPct val="150000"/>
              </a:lnSpc>
              <a:spcBef>
                <a:spcPts val="685"/>
              </a:spcBef>
              <a:buNone/>
            </a:pP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if condition3: </a:t>
            </a:r>
          </a:p>
          <a:p>
            <a:pPr marL="471805" marR="4563110" indent="-228600">
              <a:lnSpc>
                <a:spcPct val="150000"/>
              </a:lnSpc>
              <a:spcBef>
                <a:spcPts val="685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statement3</a:t>
            </a:r>
            <a:r>
              <a:rPr lang="en-US" sz="2000" spc="18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#</a:t>
            </a:r>
            <a:r>
              <a:rPr lang="en-US" sz="2000" spc="-6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block3</a:t>
            </a:r>
            <a:endParaRPr lang="en-IN" sz="20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43205" marR="0">
              <a:buNone/>
            </a:pPr>
            <a:r>
              <a:rPr lang="en-US" sz="2000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else:</a:t>
            </a:r>
            <a:endParaRPr lang="en-IN" sz="20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4605" marR="3675380" indent="456565">
              <a:lnSpc>
                <a:spcPct val="150000"/>
              </a:lnSpc>
              <a:spcBef>
                <a:spcPts val="695"/>
              </a:spcBef>
              <a:buNone/>
            </a:pP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statement4</a:t>
            </a:r>
            <a:r>
              <a:rPr lang="en-US" sz="2000" spc="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#</a:t>
            </a:r>
            <a:r>
              <a:rPr lang="en-US" sz="2000" spc="-4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block4 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4605" marR="3675380" indent="456565">
              <a:lnSpc>
                <a:spcPct val="150000"/>
              </a:lnSpc>
              <a:spcBef>
                <a:spcPts val="695"/>
              </a:spcBef>
              <a:buNone/>
            </a:pP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Next statement</a:t>
            </a:r>
          </a:p>
        </p:txBody>
      </p:sp>
    </p:spTree>
    <p:extLst>
      <p:ext uri="{BB962C8B-B14F-4D97-AF65-F5344CB8AC3E}">
        <p14:creationId xmlns:p14="http://schemas.microsoft.com/office/powerpoint/2010/main" val="1158934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F5E06-5D09-7E2B-51A7-226D9A928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nested if: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605BD-7CDB-1F79-52E0-BA9B4DDF8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7460"/>
            <a:ext cx="10515600" cy="481950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 for nested if is as shown in figure: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4" descr=" Nested if-else Statement">
            <a:extLst>
              <a:ext uri="{FF2B5EF4-FFF2-40B4-BE49-F238E27FC236}">
                <a16:creationId xmlns:a16="http://schemas.microsoft.com/office/drawing/2014/main" id="{27921876-F5A5-4432-E91B-CA32D74C2052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1094" y="1970202"/>
            <a:ext cx="8107050" cy="4138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44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E81092-C823-C780-7EA8-675CC4A0E62A}"/>
              </a:ext>
            </a:extLst>
          </p:cNvPr>
          <p:cNvSpPr txBox="1"/>
          <p:nvPr/>
        </p:nvSpPr>
        <p:spPr>
          <a:xfrm>
            <a:off x="895545" y="273377"/>
            <a:ext cx="8246097" cy="5552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" marR="0">
              <a:spcBef>
                <a:spcPts val="815"/>
              </a:spcBef>
              <a:buNone/>
            </a:pPr>
            <a:r>
              <a:rPr lang="en-US" sz="1800" b="1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Example:</a:t>
            </a:r>
            <a:endParaRPr lang="en-IN" sz="18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4605" marR="3675380">
              <a:lnSpc>
                <a:spcPct val="150000"/>
              </a:lnSpc>
              <a:spcBef>
                <a:spcPts val="685"/>
              </a:spcBef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=int(input("Enter A: "))</a:t>
            </a:r>
            <a:endParaRPr lang="en-IN" sz="18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2705" marR="0">
              <a:buNone/>
            </a:pPr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b=int(input("Enter</a:t>
            </a:r>
            <a:r>
              <a:rPr lang="en-US" sz="1800" spc="-1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B: </a:t>
            </a:r>
            <a:r>
              <a:rPr lang="en-US" sz="1800" spc="-2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"))</a:t>
            </a:r>
            <a:endParaRPr lang="en-IN" sz="18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4605" marR="0">
              <a:spcBef>
                <a:spcPts val="695"/>
              </a:spcBef>
              <a:buNone/>
            </a:pPr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c=int(input("Enter</a:t>
            </a:r>
            <a:r>
              <a:rPr lang="en-US" sz="1800" spc="-1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C:</a:t>
            </a:r>
            <a:r>
              <a:rPr lang="en-US" sz="1800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2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"))</a:t>
            </a:r>
          </a:p>
          <a:p>
            <a:pPr marL="14605" marR="0">
              <a:spcBef>
                <a:spcPts val="695"/>
              </a:spcBef>
              <a:buNone/>
            </a:pPr>
            <a:r>
              <a:rPr lang="en-IN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If a &gt; b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14605" marR="0">
              <a:spcBef>
                <a:spcPts val="695"/>
              </a:spcBef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 if a&gt;c:</a:t>
            </a:r>
          </a:p>
          <a:p>
            <a:pPr marL="14605" marR="0">
              <a:spcBef>
                <a:spcPts val="695"/>
              </a:spcBef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g = a</a:t>
            </a:r>
          </a:p>
          <a:p>
            <a:pPr marL="14605" marR="0">
              <a:spcBef>
                <a:spcPts val="695"/>
              </a:spcBef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  else</a:t>
            </a:r>
          </a:p>
          <a:p>
            <a:pPr marL="14605" marR="0">
              <a:spcBef>
                <a:spcPts val="695"/>
              </a:spcBef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	g = c</a:t>
            </a:r>
          </a:p>
          <a:p>
            <a:pPr marL="14605" marR="0">
              <a:spcBef>
                <a:spcPts val="695"/>
              </a:spcBef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Else:</a:t>
            </a:r>
          </a:p>
          <a:p>
            <a:pPr marL="14605" marR="0">
              <a:spcBef>
                <a:spcPts val="695"/>
              </a:spcBef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 if b &gt; c:</a:t>
            </a:r>
          </a:p>
          <a:p>
            <a:pPr marL="14605" marR="0">
              <a:spcBef>
                <a:spcPts val="695"/>
              </a:spcBef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       g = b</a:t>
            </a:r>
          </a:p>
          <a:p>
            <a:pPr marL="14605" marR="0">
              <a:spcBef>
                <a:spcPts val="695"/>
              </a:spcBef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 else</a:t>
            </a:r>
          </a:p>
          <a:p>
            <a:pPr marL="14605" marR="0">
              <a:spcBef>
                <a:spcPts val="695"/>
              </a:spcBef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      g = c</a:t>
            </a:r>
          </a:p>
          <a:p>
            <a:pPr marL="14605" marR="0">
              <a:spcBef>
                <a:spcPts val="695"/>
              </a:spcBef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Print(“Greater =”, g)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3ABD14E-6EBE-3E02-342B-73C0BE119B4C}"/>
              </a:ext>
            </a:extLst>
          </p:cNvPr>
          <p:cNvSpPr/>
          <p:nvPr/>
        </p:nvSpPr>
        <p:spPr>
          <a:xfrm>
            <a:off x="7211505" y="1461155"/>
            <a:ext cx="3780149" cy="307313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 A: 10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 B: 20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 C: 5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Greater = 20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228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EC3E1-B589-4C65-0180-43CB94096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statement: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4A9D9F-3F68-8173-D19C-9983420C72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2106" y="1173774"/>
            <a:ext cx="9134573" cy="464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41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03358-BBBF-4102-331A-4BA293190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 for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as shown in figure: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B325C-43B5-A844-B579-8FC5A2351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Image 5">
            <a:extLst>
              <a:ext uri="{FF2B5EF4-FFF2-40B4-BE49-F238E27FC236}">
                <a16:creationId xmlns:a16="http://schemas.microsoft.com/office/drawing/2014/main" id="{BA3E7B9A-814D-2C41-ACD1-D1792274CF17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8200" y="1263192"/>
            <a:ext cx="9012810" cy="499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176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3BF99-C731-C02D-AC6A-335184E8F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CC0AE-5142-BA0D-51A0-B8365EF7E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7460"/>
            <a:ext cx="10515600" cy="48195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 = int( input('Enter your age:’))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age &lt; 5: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ticket_price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5 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age &lt; 16: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ticket_price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10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else: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ticket_price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18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print("amount to pay for ticket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is",ticket_price,"rupees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45C6322-47F8-414C-8440-7521D103D2A7}"/>
              </a:ext>
            </a:extLst>
          </p:cNvPr>
          <p:cNvSpPr/>
          <p:nvPr/>
        </p:nvSpPr>
        <p:spPr>
          <a:xfrm>
            <a:off x="6391373" y="681037"/>
            <a:ext cx="5052767" cy="35887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 your age: 4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amount to pay for ticket is 5 rupees Enter your age: 7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amount to pay for ticket is 10 rupees Enter your age: 20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amount to pay for ticket is 18 rupees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622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735</Words>
  <Application>Microsoft Office PowerPoint</Application>
  <PresentationFormat>Widescreen</PresentationFormat>
  <Paragraphs>106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Symbol</vt:lpstr>
      <vt:lpstr>Times New Roman</vt:lpstr>
      <vt:lpstr>Office Theme</vt:lpstr>
      <vt:lpstr>Conditional Statements</vt:lpstr>
      <vt:lpstr>Conditional Statements</vt:lpstr>
      <vt:lpstr>Conditional Statements</vt:lpstr>
      <vt:lpstr>Simple if </vt:lpstr>
      <vt:lpstr>PowerPoint Presentation</vt:lpstr>
      <vt:lpstr>Example </vt:lpstr>
      <vt:lpstr>if-else</vt:lpstr>
      <vt:lpstr>PowerPoint Presentation</vt:lpstr>
      <vt:lpstr>Example: </vt:lpstr>
      <vt:lpstr>PowerPoint Presentation</vt:lpstr>
      <vt:lpstr>nested if: </vt:lpstr>
      <vt:lpstr>PowerPoint Presentation</vt:lpstr>
      <vt:lpstr>elif statement: </vt:lpstr>
      <vt:lpstr>Flowchart for elif is as shown in figure: </vt:lpstr>
      <vt:lpstr>Example: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VINOD KUMAR</dc:creator>
  <cp:lastModifiedBy>S VINOD KUMAR</cp:lastModifiedBy>
  <cp:revision>4</cp:revision>
  <dcterms:created xsi:type="dcterms:W3CDTF">2026-08-05T06:29:58Z</dcterms:created>
  <dcterms:modified xsi:type="dcterms:W3CDTF">2026-08-06T15:39:39Z</dcterms:modified>
</cp:coreProperties>
</file>