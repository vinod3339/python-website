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9F04-D031-7C07-EF95-26580710E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60E0F-F3F8-1CAF-61A9-70A87959D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B107A-7DAD-14FA-7500-D391593D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883FD-2128-869A-8DE5-86012725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E137E-65EE-0E02-E7EF-A43438CA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30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960B-5957-120B-FAA9-008C926B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2A45-49F9-DEEC-18B5-9117153F0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1EA7C-55D4-DE27-E268-E0B5CE93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EE0C-4859-7678-EC91-CE7DBB77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C88AA-22CC-8E49-473B-B31F5D2C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00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47DA-A05E-33E1-4D3C-485D8B7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54D63-DD5E-3E39-D3D3-F768B19E0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A52F8-FFA7-46B7-968C-8919E09A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A9CB9-AC14-00C4-0286-1E65BA0C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2203-A0F5-E720-4482-43F2EFD3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34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344F-0312-B8D2-2C10-A725F828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92B77-4F1F-2BE1-E87B-B9FBA39F8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86101-D90F-2FB5-712F-1B069E2FE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87062-8C86-97B8-D112-4E53D502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B39D1-EE0E-91BC-28C2-EC84B7B9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C113F-C3A1-6B61-200A-742A64A3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74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5495-408E-83D4-CA62-E02C5EB6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C5DBF-EA64-E712-5653-CD813C44E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5F946-F1F9-2B05-7A56-E7FB550A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2CD83-F941-9940-8905-2E51ABDA3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F9B67-9453-0E87-5979-18DD2E1B3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86A0BB-7A01-9A0A-A47C-12C6370D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38F038-6E83-ABCA-A699-1B64D012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35044-B0C5-5FAA-5EDC-062D7479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83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F5FB-7935-3C31-AE23-3A5862A8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0E475-84A0-9FFD-B534-1701A02B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56BAB-A29A-1FCA-71FB-513ED536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1A7C9-1840-4F45-7373-0EDBFD23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4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564B0-DAD2-68E0-EDDA-EEAEA3F0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5D04C-7EB5-E47E-EBD3-65507368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99255-9CAC-A810-8C02-E765A1CD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0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4E93-3248-9E6E-C7C8-0C7EC295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5F6F-FEFB-D025-7F58-6C22F0C56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272C2-1FCC-A066-1B6E-26DFB09D6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001BE-B436-7E80-3242-E268D3C1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3E9E8-CE51-3C28-FC3C-A7C93A6C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7599E-E015-19CC-8431-D505FCD3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80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3672-88B1-AC8A-A875-E16010D22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2BC3D-2B2D-7A03-9BFC-2DA9E44D9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7489C-61D6-30A4-6BDF-48D3FE423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256AD-89C3-5F91-C6F0-7C9E0CE1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F9C75-718D-93CF-7794-BE66C9F7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10483-B51E-A052-4F9A-18A141B1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3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AB1A-3E08-59EA-8582-8ED32B75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4D5B2-62C0-49AC-D556-C060A24DE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BCA6D-7EA7-B47B-7B18-CEA404DF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E1018-A1F6-EDD7-7FCE-E91B85B3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AB7B4-7636-C726-E641-CED7B199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63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CEDC1-235F-C86C-F4E6-F0F024BB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5D194-307E-C2B6-5394-DCB7124CB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34C69-A013-C6DE-554F-C576949F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7391D-B65D-6F31-8237-0F374A3D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806E-F70E-A3E1-2537-B44FAC17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76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B9DE4-17F4-F7CA-D787-FA865915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FD095-28E7-44E3-A33D-653A8F222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EE0A0-350C-D48A-6EFE-E6AE9A2B6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03077-320F-4FB2-96D9-C6485CDBA474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6E1C2-7259-754E-5882-43B338C16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B6EE7-7B42-CB96-37CB-9CFE76835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BC3DF-4E52-4FA0-9EA3-FA8DF20BC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84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1886-D478-9BE0-B291-68A813920D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 and order of evaluations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E92D0-46D3-43FF-F309-066B6AAE5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07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DF64-DBE3-1972-FA3A-3623E8BE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BA2F-AB96-9CC9-657E-889AE1C6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21410"/>
            <a:ext cx="10439400" cy="455555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expression is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operators and operands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All expressions have a value.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In an expression a + b,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are operands 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is an operator.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9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01F9-744F-19D2-BDAA-8733A387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A72C1-21C2-7814-4CC5-B1F76CCE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table shows some examples of expressions in Python: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02B0BC-779F-8F6D-072D-FDA55B96F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14285"/>
              </p:ext>
            </p:extLst>
          </p:nvPr>
        </p:nvGraphicFramePr>
        <p:xfrm>
          <a:off x="1630836" y="2620652"/>
          <a:ext cx="8399283" cy="328052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131571">
                  <a:extLst>
                    <a:ext uri="{9D8B030D-6E8A-4147-A177-3AD203B41FA5}">
                      <a16:colId xmlns:a16="http://schemas.microsoft.com/office/drawing/2014/main" val="1897231170"/>
                    </a:ext>
                  </a:extLst>
                </a:gridCol>
                <a:gridCol w="4267712">
                  <a:extLst>
                    <a:ext uri="{9D8B030D-6E8A-4147-A177-3AD203B41FA5}">
                      <a16:colId xmlns:a16="http://schemas.microsoft.com/office/drawing/2014/main" val="3200809141"/>
                    </a:ext>
                  </a:extLst>
                </a:gridCol>
              </a:tblGrid>
              <a:tr h="452216"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Algebraic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Expression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en-US" sz="2400" spc="-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057223"/>
                  </a:ext>
                </a:extLst>
              </a:tr>
              <a:tr h="566757"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spc="-25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abc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a*b*c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09029"/>
                  </a:ext>
                </a:extLst>
              </a:tr>
              <a:tr h="564020"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spc="-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m+n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)(</a:t>
                      </a:r>
                      <a:r>
                        <a:rPr lang="en-US" sz="2400" spc="-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x+y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(m+n)*(x+y)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88863"/>
                  </a:ext>
                </a:extLst>
              </a:tr>
              <a:tr h="566757"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</a:t>
                      </a:r>
                      <a:r>
                        <a:rPr lang="en-US" sz="2400" spc="-1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+bx+c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a*x</a:t>
                      </a:r>
                      <a:r>
                        <a:rPr lang="en-US" sz="2400" spc="-1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400" spc="-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x+b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400" spc="-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x+c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08282"/>
                  </a:ext>
                </a:extLst>
              </a:tr>
              <a:tr h="566757"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spc="-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p+q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spc="-1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p+q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)*</a:t>
                      </a:r>
                      <a:r>
                        <a:rPr lang="en-US" sz="2400" spc="-2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spc="-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p+q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27964"/>
                  </a:ext>
                </a:extLst>
              </a:tr>
              <a:tr h="564020"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spc="-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</a:t>
                      </a: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)/3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2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(m*n)/3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065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45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7D3D-7A14-05CD-F5AD-B60C153D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an Expression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600B-B926-56B8-6566-EA1FE9A4A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668" y="1517716"/>
            <a:ext cx="10595728" cy="46592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determining the expression’s value is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“evaluation of an expression”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10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20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Output: 30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000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E26C-BED2-10F9-2458-62D6BC88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an Expression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81E1C-0858-7516-B133-F857C559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61" y="1216058"/>
            <a:ext cx="10382838" cy="496090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expressions are evaluated using an assignment statement of the form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= expression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expression gets evaluated first and then value is assigned to variable on the left hand side of an assignment statement.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10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20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71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0A48-2F00-E6FD-9639-6ADFEB03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Type Expressions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AB193-BA77-CF30-28D8-AF826545A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375" y="1489434"/>
            <a:ext cx="10307425" cy="468752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 may contain mixed integer and floating-point elements.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4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10.2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= x + y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print(sum)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x is an integer 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is a floating-point number 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+ y is a floating-point expression, 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assignment will make the variable sum bind to a floating-point value.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45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4A84-11B0-D8F3-EC6A-05343A4B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5925"/>
            <a:ext cx="10992439" cy="12947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evaluations - Precedence and Associativity of Operators: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4207-816C-D775-80D5-5DD26EC5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69065"/>
            <a:ext cx="10643647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Python operators have a precedence and associativity.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has well-defined rules for specifying the order in which the operators in an expression are evaluated when the expression has several operators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multiplication and division have a higher precedence than addition and subtraction.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813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B041-FA66-59B2-6578-04643FAE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Precedence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93C49-9D67-C64B-8AD3-183E0CC2A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668" y="1357460"/>
            <a:ext cx="10345132" cy="481950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Precedence / Priority indicate that which operator has to be evaluated first if the given expression contains more than one operator.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10 - 4 * 2 evaluates to 2.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multiplication is performed before addition, since multiplication has highest precedence over addition.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414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1FD2-CAD9-908E-BEE7-F18FD57D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Precedence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965BA-25FD-8438-92E2-3B4E84F98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0" y="1366887"/>
            <a:ext cx="10411120" cy="48100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10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22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3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a * b + c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a - b * c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223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print(y)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-56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898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579367-B854-6AED-52BD-BFAE01E95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787483"/>
              </p:ext>
            </p:extLst>
          </p:nvPr>
        </p:nvGraphicFramePr>
        <p:xfrm>
          <a:off x="122548" y="113123"/>
          <a:ext cx="12000322" cy="645735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951349">
                  <a:extLst>
                    <a:ext uri="{9D8B030D-6E8A-4147-A177-3AD203B41FA5}">
                      <a16:colId xmlns:a16="http://schemas.microsoft.com/office/drawing/2014/main" val="3871318333"/>
                    </a:ext>
                  </a:extLst>
                </a:gridCol>
                <a:gridCol w="5888316">
                  <a:extLst>
                    <a:ext uri="{9D8B030D-6E8A-4147-A177-3AD203B41FA5}">
                      <a16:colId xmlns:a16="http://schemas.microsoft.com/office/drawing/2014/main" val="3302740501"/>
                    </a:ext>
                  </a:extLst>
                </a:gridCol>
                <a:gridCol w="4160657">
                  <a:extLst>
                    <a:ext uri="{9D8B030D-6E8A-4147-A177-3AD203B41FA5}">
                      <a16:colId xmlns:a16="http://schemas.microsoft.com/office/drawing/2014/main" val="1931901986"/>
                    </a:ext>
                  </a:extLst>
                </a:gridCol>
              </a:tblGrid>
              <a:tr h="380223">
                <a:tc>
                  <a:txBody>
                    <a:bodyPr/>
                    <a:lstStyle/>
                    <a:p>
                      <a:pPr marL="1905" marR="29210" algn="ctr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Precedence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931014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Parenthesis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spc="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spc="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spc="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en-US" sz="1600" spc="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1600" spc="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27607"/>
                  </a:ext>
                </a:extLst>
              </a:tr>
              <a:tr h="378386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Exponentiation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6680" marR="0">
                        <a:lnSpc>
                          <a:spcPts val="1375"/>
                        </a:lnSpc>
                        <a:buNone/>
                      </a:pP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338640"/>
                  </a:ext>
                </a:extLst>
              </a:tr>
              <a:tr h="762281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spcBef>
                          <a:spcPts val="1040"/>
                        </a:spcBef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  <a:tabLst>
                          <a:tab pos="1058545" algn="l"/>
                        </a:tabLst>
                      </a:pP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Complement,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Unary</a:t>
                      </a:r>
                      <a:r>
                        <a:rPr lang="en-US" sz="1600" spc="14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60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6675" marR="0">
                        <a:lnSpc>
                          <a:spcPts val="1375"/>
                        </a:lnSpc>
                        <a:spcBef>
                          <a:spcPts val="685"/>
                        </a:spcBef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1600" spc="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35890" marR="0">
                        <a:lnSpc>
                          <a:spcPts val="1375"/>
                        </a:lnSpc>
                        <a:spcBef>
                          <a:spcPts val="1040"/>
                        </a:spcBef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+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720637"/>
                  </a:ext>
                </a:extLst>
              </a:tr>
              <a:tr h="378386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Multiply,</a:t>
                      </a:r>
                      <a:r>
                        <a:rPr lang="en-US" sz="1600" spc="6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Divide,</a:t>
                      </a:r>
                      <a:r>
                        <a:rPr lang="en-US" sz="1600" spc="8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Modulo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1600" spc="3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//</a:t>
                      </a:r>
                      <a:r>
                        <a:rPr lang="en-US" sz="1600" spc="34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716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</a:t>
                      </a:r>
                      <a:r>
                        <a:rPr lang="en-US" sz="1600" spc="4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en-US" sz="1600" spc="4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Subtraction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1600" spc="33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450957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</a:t>
                      </a:r>
                      <a:r>
                        <a:rPr lang="en-US" sz="1600" spc="6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84507"/>
                  </a:ext>
                </a:extLst>
              </a:tr>
              <a:tr h="378386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</a:t>
                      </a:r>
                      <a:r>
                        <a:rPr lang="en-US" sz="1600" spc="6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562959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</a:t>
                      </a:r>
                      <a:r>
                        <a:rPr lang="en-US" sz="1600" spc="6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500556"/>
                  </a:ext>
                </a:extLst>
              </a:tr>
              <a:tr h="378386">
                <a:tc>
                  <a:txBody>
                    <a:bodyPr/>
                    <a:lstStyle/>
                    <a:p>
                      <a:pPr marL="27305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</a:t>
                      </a:r>
                      <a:r>
                        <a:rPr lang="en-US" sz="1600" spc="6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358383"/>
                  </a:ext>
                </a:extLst>
              </a:tr>
              <a:tr h="381141">
                <a:tc>
                  <a:txBody>
                    <a:bodyPr/>
                    <a:lstStyle/>
                    <a:p>
                      <a:pPr marL="29210" marR="27305" algn="ctr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</a:t>
                      </a:r>
                      <a:r>
                        <a:rPr lang="en-US" sz="1600" spc="9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</a:t>
                      </a:r>
                      <a:r>
                        <a:rPr lang="en-US" sz="1600" spc="33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5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1539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9210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Equality</a:t>
                      </a:r>
                      <a:r>
                        <a:rPr lang="en-US" sz="1600" spc="7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!=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32"/>
                  </a:ext>
                </a:extLst>
              </a:tr>
              <a:tr h="378386">
                <a:tc>
                  <a:txBody>
                    <a:bodyPr/>
                    <a:lstStyle/>
                    <a:p>
                      <a:pPr marL="29210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</a:t>
                      </a:r>
                      <a:r>
                        <a:rPr lang="en-US" sz="1600" spc="9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600" spc="3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+=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-=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/=</a:t>
                      </a:r>
                      <a:r>
                        <a:rPr lang="en-US" sz="1600" spc="3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*=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374325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9210" marR="27305" algn="ctr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Identity</a:t>
                      </a:r>
                      <a:r>
                        <a:rPr lang="en-US" sz="1600" spc="7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is,</a:t>
                      </a:r>
                      <a:r>
                        <a:rPr lang="en-US" sz="1600" spc="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1600" spc="4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572894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9210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Membership</a:t>
                      </a:r>
                      <a:r>
                        <a:rPr lang="en-US" sz="1600" spc="9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in,</a:t>
                      </a:r>
                      <a:r>
                        <a:rPr lang="en-US" sz="1600" spc="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1600" spc="3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12699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marL="27940" marR="27305" algn="ctr">
                        <a:lnSpc>
                          <a:spcPts val="1375"/>
                        </a:lnSpc>
                        <a:buNone/>
                      </a:pPr>
                      <a:r>
                        <a:rPr lang="en-US" sz="160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0">
                        <a:lnSpc>
                          <a:spcPts val="1375"/>
                        </a:lnSpc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</a:t>
                      </a:r>
                      <a:r>
                        <a:rPr lang="en-US" sz="1600" spc="6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ts val="1375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and,</a:t>
                      </a:r>
                      <a:r>
                        <a:rPr lang="en-US" sz="1600" spc="4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or,</a:t>
                      </a:r>
                      <a:r>
                        <a:rPr lang="en-US" sz="1600" spc="4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13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15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6E8A-9D5B-71FD-AA7D-0F763B53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Associativity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0E476-4563-4219-3E82-AB85CCAFA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60" y="1423447"/>
            <a:ext cx="10382839" cy="4753516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expression contains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operators but with same precedence, then associativity helps to determine the order of operations.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multiplication and floor division have the same precedence. Hence, if both of them are present in an expression, the left one is evaluated first.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2 types of associativity: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to right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left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78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5D53-89AC-290C-3AD3-8B91066B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to right associativity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B7FE-C616-D3A7-76A7-3A7DF0013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814" y="1366887"/>
            <a:ext cx="10363985" cy="481007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operators are having associativity which is from left to right. For example, arithmetic operators have left to right associativity.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2 - 3 - 4 evaluates to -5.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evaluation is done from left to right since subtraction operator is left associative.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Shows left-right associativity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print(5 * 2 // 3)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90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ED45-E559-9B3B-D124-64382B2C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left associativity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A362D-CA1F-8BED-E54F-297BFA98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operators are having associativity which is from right to left. For example, the exponent operator i.e.,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 has right-to-left associativity in Python.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6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D192-E9DD-3BE6-8ADA-E26A34EE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left associativity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58732-B299-22DF-3E62-DA519AD6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740"/>
            <a:ext cx="10515600" cy="479122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Shows the right-left associativity of ** print(2 ** 3 ** 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512, Since 2**(3**2) = 2**9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assignment operator is a different kind of operator from the arithmetic operators.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notions of precedence and associativity do not apply in the context of the assignment operator. Python support a special kind of assignment statement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chained assignment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416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A8F8-1237-CEF1-FCC2-FE8AAF6D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left associativity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3829D-6F8C-5B51-AAF3-5BE6EDD0F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276"/>
            <a:ext cx="10515600" cy="460268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= x = y = z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the value of the rightmost variable (i.e., z) to all the other variables (w, x, and y) to its left.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889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1476F7D-CA31-7FB2-8A59-1A19488D0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43" y="124905"/>
            <a:ext cx="11538409" cy="660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76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848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Expressions and order of evaluations </vt:lpstr>
      <vt:lpstr>Expressions</vt:lpstr>
      <vt:lpstr>Expressions</vt:lpstr>
      <vt:lpstr>Evaluation of an Expression </vt:lpstr>
      <vt:lpstr>Evaluation of an Expression </vt:lpstr>
      <vt:lpstr>Mixed Type Expressions </vt:lpstr>
      <vt:lpstr>Order of evaluations - Precedence and Associativity of Operators: </vt:lpstr>
      <vt:lpstr>Precedence  </vt:lpstr>
      <vt:lpstr>Precedence  </vt:lpstr>
      <vt:lpstr>PowerPoint Presentation</vt:lpstr>
      <vt:lpstr>Associativity  </vt:lpstr>
      <vt:lpstr>Left to right associativity </vt:lpstr>
      <vt:lpstr>Right to left associativity </vt:lpstr>
      <vt:lpstr>Right to left associativity </vt:lpstr>
      <vt:lpstr>Right to left associativity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2</cp:revision>
  <dcterms:created xsi:type="dcterms:W3CDTF">2026-08-04T04:53:42Z</dcterms:created>
  <dcterms:modified xsi:type="dcterms:W3CDTF">2026-08-05T10:01:49Z</dcterms:modified>
</cp:coreProperties>
</file>