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6" r:id="rId27"/>
    <p:sldId id="287" r:id="rId28"/>
    <p:sldId id="284" r:id="rId29"/>
    <p:sldId id="285" r:id="rId30"/>
    <p:sldId id="288" r:id="rId31"/>
    <p:sldId id="289" r:id="rId32"/>
    <p:sldId id="290" r:id="rId33"/>
    <p:sldId id="291" r:id="rId34"/>
    <p:sldId id="292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911D4-545A-BF60-A8B4-415BA73AEB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2ABF37-ECA6-1FFA-B555-513ED9358B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BD569-7A59-3D95-1F81-7E37B14B2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15A46-EDC3-4C1B-845A-14110B13882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511C3-F891-8887-E6CC-18DE40088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44DDD-0874-FF5F-9411-8667C48A1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C5F7-1F75-4062-87ED-6FC818EE2E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67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CF7F4-1770-8544-5D57-1C2A5DF90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50184-6AD0-B33C-84AF-59568C864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80675-0ACF-4809-9D4E-DF759B04C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15A46-EDC3-4C1B-845A-14110B13882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F7B4B-AFEC-39C6-FC01-A879254B5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4B99C-395F-F7C2-403F-415655212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C5F7-1F75-4062-87ED-6FC818EE2E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474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D276C-C0C5-E335-4EB3-09653FEB3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C8452-84B7-CD95-195E-AB0B00686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A4BB6-1C1C-B7EB-31B5-2693C8AA8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15A46-EDC3-4C1B-845A-14110B13882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E67CD-79F9-0E0E-BAD8-1F803C8B1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E65A1-E7D9-5782-F0C2-ED9CB7E2B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C5F7-1F75-4062-87ED-6FC818EE2E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242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8BBB9-474D-7C3E-38FC-63D35DD83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84747-C9DC-7562-BE19-B2BFDBAAF2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C88CA1-4675-8436-3C33-9976F2CC5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6279DE-76CF-946D-4FA3-F12C81CB1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15A46-EDC3-4C1B-845A-14110B13882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0FE8CE-C093-3912-18C7-452A86A92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B7E6FD-08B3-F117-6593-73D90C619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C5F7-1F75-4062-87ED-6FC818EE2E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530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269C0-3B8B-93FE-9CF0-C9985C3F8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073C6-BFC3-5F02-19E6-8AED8FD44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13327F-948C-BAA4-6233-98AA625E5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2C79E4-A9B3-929B-86E8-55C9F610B6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0E53E1-DC34-0C71-D51F-5A4B22CEAD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0EFB43-E7A1-A85C-D7F3-A925DF116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15A46-EDC3-4C1B-845A-14110B13882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6B289F-2F30-AAB8-1F1E-9B8A8D6F7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C90A71-CA07-932D-6216-450C6D30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C5F7-1F75-4062-87ED-6FC818EE2E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849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A03D4-5E9D-DE20-F72A-C7446E5C4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78B537-BA7E-0AE0-A31C-0B2DF72B6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15A46-EDC3-4C1B-845A-14110B13882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B7A324-6266-AFBD-AD53-B8B882299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10E814-78B0-8383-8F2A-85E304904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C5F7-1F75-4062-87ED-6FC818EE2E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862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2D207F-B21A-DA51-30B8-DABC6AF32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15A46-EDC3-4C1B-845A-14110B13882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249088-F3E9-54FC-3C04-136123E8F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FECFA-6514-8CB4-E53C-381069E05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C5F7-1F75-4062-87ED-6FC818EE2E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541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661BD-BF94-F9E8-0109-4C3F7E85C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13E05-2285-CC90-7203-3C235AB38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FFC77E-10CB-4508-60D5-CD26EB4AD1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6DC86F-C1F3-5D96-FD02-FD68B27C4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15A46-EDC3-4C1B-845A-14110B13882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6C4CF-DD53-2447-2405-0E0A1CEDD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EDE2C3-7405-48B4-3029-D5706C646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C5F7-1F75-4062-87ED-6FC818EE2E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408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89E31-7BB0-96A8-8069-53FD5C901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D66642-ED90-7182-74B2-970EA7E605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47C07B-53C7-11AE-102B-B59C704D1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D7142E-312D-77F0-53AD-8FD05493E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15A46-EDC3-4C1B-845A-14110B13882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6A4782-74F8-298C-B28B-9E8936094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CB9D64-741D-073B-BAEC-93DE500FD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C5F7-1F75-4062-87ED-6FC818EE2E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845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1BD88-B80D-2396-ED51-D9F270F05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0E7146-56FB-B2D9-15F9-6BB9A60B0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651BA-7F87-3D07-5E55-E8C13274E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15A46-EDC3-4C1B-845A-14110B13882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7B385-6F86-EAEE-5BA8-08CEB8C61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7405-AE12-571F-233C-90FD5D0E7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C5F7-1F75-4062-87ED-6FC818EE2E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236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FAF9BF-5AC4-ED36-D9AA-66ACF19A8D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E52309-EADB-80B1-F085-D614BC0ED5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E8E35-C791-7B2B-DD64-9F9211947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15A46-EDC3-4C1B-845A-14110B13882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0F558-8D8F-7002-1E67-A1415E1AA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308AD-D417-718F-CD8A-BCFB10C97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6C5F7-1F75-4062-87ED-6FC818EE2E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56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7D5211-6981-E9D7-9B11-6D596572D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016B4-0182-C022-5D7A-E59EEAB28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50721-E0B7-530D-587F-1A772EC185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15A46-EDC3-4C1B-845A-14110B13882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B505-98AD-1781-F69E-56CB2D6DBB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6DB07-FDBE-F325-8383-BDF84C2BB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C6C5F7-1F75-4062-87ED-6FC818EE2E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759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98FB2-92C2-B125-AC23-E5A078728B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and Packages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82913F-240C-9F83-06BC-BA23064190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modules, User-Defined modules,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itertools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4441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13EFB-9164-487F-9B69-5CE7EF5BE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921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module?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D68C9-C82C-FE9A-F8A4-B579E2ADC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313"/>
            <a:ext cx="10515600" cy="4800650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module in Python is a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containing Python code, such as functions, classes, variables, and executable statements, that can be imported and reused in another Python program.</a:t>
            </a:r>
          </a:p>
          <a:p>
            <a:pPr algn="just"/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Python module usually has the .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extension.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calculator.py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file can contain functions such as addition, subtraction, multiplication, and division.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7285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6496E-9CFE-F087-8E5B-3CD116E79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462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3DDE7-F358-573B-09A0-24994DDC1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960" y="1319754"/>
            <a:ext cx="10382839" cy="4857209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college with different departments: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and Engineering Department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 Engineering Department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Civil Engineering Department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department performs its own tasks but can share resources with other departments.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Similarly, a Python program can be divided into modules,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each module handles a particular task and can be reused by other programs.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10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Mastering Modular Programming: How to Take Your Python Skills to the Next Level | Federico Trotta | TDS Archive">
            <a:extLst>
              <a:ext uri="{FF2B5EF4-FFF2-40B4-BE49-F238E27FC236}">
                <a16:creationId xmlns:a16="http://schemas.microsoft.com/office/drawing/2014/main" id="{4B5F7DC9-B4EF-010C-F3B9-56C38D38B1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509" y="556181"/>
            <a:ext cx="8842343" cy="5684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2434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51A13-66F0-021F-02B9-56D1F4644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6844"/>
            <a:ext cx="10515600" cy="937101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we need modules?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D1362-8314-E920-FF26-86EB8EC90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8032"/>
            <a:ext cx="10515600" cy="480065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provide several advantages: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A3135B-2AC2-08C3-6F07-CD21D4E81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316199"/>
              </p:ext>
            </p:extLst>
          </p:nvPr>
        </p:nvGraphicFramePr>
        <p:xfrm>
          <a:off x="838200" y="2036189"/>
          <a:ext cx="10515600" cy="4573498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74628734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83803550"/>
                    </a:ext>
                  </a:extLst>
                </a:gridCol>
              </a:tblGrid>
              <a:tr h="449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766580"/>
                  </a:ext>
                </a:extLst>
              </a:tr>
              <a:tr h="449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 reusability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Write a function once and use it in multiple programs.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193062"/>
                  </a:ext>
                </a:extLst>
              </a:tr>
              <a:tr h="449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Modularity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Divide a large program into smaller, manageable files.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727211"/>
                  </a:ext>
                </a:extLst>
              </a:tr>
              <a:tr h="786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Maintainability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Update one module without rewriting the entire application.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872779"/>
                  </a:ext>
                </a:extLst>
              </a:tr>
              <a:tr h="449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Organize related functions and classes together.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2876509"/>
                  </a:ext>
                </a:extLst>
              </a:tr>
              <a:tr h="786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Namespace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Keep names organized under a module instead of placing everything in one global namespace.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94141"/>
                  </a:ext>
                </a:extLst>
              </a:tr>
              <a:tr h="449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Collaboration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Different developers can work on separate modules.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056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8526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D0113-706A-3F75-AA71-6194B3B87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without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E2BE0-6B6D-0B13-599C-78C85B81E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5802"/>
            <a:ext cx="10515599" cy="5121161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we write a calculator program containing all operations in one file.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add(a, b):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a + b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subtract(a, b):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a - b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multiply(a, b):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a * b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print(add(10, 5))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print(subtract(10, 5))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print(multiply(10, 5))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730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28ADC-B438-EB1B-CFEF-E9F936F86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Python modules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D04351-24E2-FFC9-9FB3-5EAC987D18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294" y="1923069"/>
            <a:ext cx="10280506" cy="2828040"/>
          </a:xfrm>
        </p:spPr>
      </p:pic>
    </p:spTree>
    <p:extLst>
      <p:ext uri="{BB962C8B-B14F-4D97-AF65-F5344CB8AC3E}">
        <p14:creationId xmlns:p14="http://schemas.microsoft.com/office/powerpoint/2010/main" val="1069013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BDC6D-9A7B-4FE3-5A57-356254921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Importing modules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E3343-51DD-8C30-4E6A-39F7477F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import statement makes names defined in a module available to the importing program.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the complete module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module_name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751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FF99B-547E-1CF1-9ED2-4846DE98D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B4627-D77E-6FD5-45BF-E6FDD1AA8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math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math.sqrt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(25))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math.factorial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C931F65-BDC2-62EA-BE1E-2F1C0A924780}"/>
              </a:ext>
            </a:extLst>
          </p:cNvPr>
          <p:cNvSpPr/>
          <p:nvPr/>
        </p:nvSpPr>
        <p:spPr>
          <a:xfrm>
            <a:off x="6617616" y="1904214"/>
            <a:ext cx="4581427" cy="23849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5.0</a:t>
            </a:r>
          </a:p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</a:p>
        </p:txBody>
      </p:sp>
    </p:spTree>
    <p:extLst>
      <p:ext uri="{BB962C8B-B14F-4D97-AF65-F5344CB8AC3E}">
        <p14:creationId xmlns:p14="http://schemas.microsoft.com/office/powerpoint/2010/main" val="2683854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C64FD-8B03-5DBD-A537-B5F0D448D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a specific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1DBE0-2FCE-6E80-BB8D-6DF51F446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module_name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function_name</a:t>
            </a:r>
            <a:endParaRPr lang="en-IN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662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2A77F-1A14-288F-A838-083D74B5D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A82BD-9351-90C1-CDBF-260B4A9D3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math import sqrt, factorial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print(sqrt(36))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print(factorial(4))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75B6328-167B-A28C-370B-D95A6F2A2563}"/>
              </a:ext>
            </a:extLst>
          </p:cNvPr>
          <p:cNvSpPr/>
          <p:nvPr/>
        </p:nvSpPr>
        <p:spPr>
          <a:xfrm>
            <a:off x="5976594" y="1825625"/>
            <a:ext cx="4967926" cy="222472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6.0</a:t>
            </a:r>
          </a:p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342714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2BBAD-88B2-5E26-C6CA-0CA7E19C5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a module using an alias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9BC3F-E7BD-F0E4-B846-1623E3F97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1984"/>
            <a:ext cx="10515600" cy="456497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module_name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alias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math as m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m.pi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m.sqrt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(49))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alias provides a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shorter name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referring to a module.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FA38AC2-EA89-FA8F-49FD-A149580AFBD0}"/>
              </a:ext>
            </a:extLst>
          </p:cNvPr>
          <p:cNvSpPr/>
          <p:nvPr/>
        </p:nvSpPr>
        <p:spPr>
          <a:xfrm>
            <a:off x="6956981" y="2554664"/>
            <a:ext cx="4562574" cy="253581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3.141592653589793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7.0</a:t>
            </a:r>
          </a:p>
        </p:txBody>
      </p:sp>
    </p:spTree>
    <p:extLst>
      <p:ext uri="{BB962C8B-B14F-4D97-AF65-F5344CB8AC3E}">
        <p14:creationId xmlns:p14="http://schemas.microsoft.com/office/powerpoint/2010/main" val="3699012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AB399-5463-F1A6-D8A0-FBC9C5A1B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233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all names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B6F6C-661C-164F-A489-A8D762D8B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module_name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*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math import *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print(sqrt(64))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print(factorial(6))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1E6BAFE-1289-08F1-35DC-21735AEC91AC}"/>
              </a:ext>
            </a:extLst>
          </p:cNvPr>
          <p:cNvSpPr/>
          <p:nvPr/>
        </p:nvSpPr>
        <p:spPr>
          <a:xfrm>
            <a:off x="6759019" y="2516957"/>
            <a:ext cx="3921550" cy="263007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8.0</a:t>
            </a:r>
          </a:p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720</a:t>
            </a:r>
          </a:p>
        </p:txBody>
      </p:sp>
    </p:spTree>
    <p:extLst>
      <p:ext uri="{BB962C8B-B14F-4D97-AF65-F5344CB8AC3E}">
        <p14:creationId xmlns:p14="http://schemas.microsoft.com/office/powerpoint/2010/main" val="725909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B5854-81D4-C6A7-8F0F-FA92FDB8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and standard-library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EFDF1-EEFA-AB6B-A200-36DCC99AA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/>
          </a:bodyPr>
          <a:lstStyle/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provides a collection of modules that offer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ready-made functionality. 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modules are distributed with Python and are documented in the Python Standard Library.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 programmers avoid implementing common operations from scratch.</a:t>
            </a:r>
          </a:p>
          <a:p>
            <a:pPr algn="just">
              <a:lnSpc>
                <a:spcPct val="2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459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00B22-82E6-C5A6-C6D4-BFD3DAF79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62017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standard-library modules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2DC1D35-7118-1554-FBB6-8C1393F02B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6518660"/>
              </p:ext>
            </p:extLst>
          </p:nvPr>
        </p:nvGraphicFramePr>
        <p:xfrm>
          <a:off x="952108" y="1527143"/>
          <a:ext cx="10515600" cy="4747997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19757562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2114649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72602221"/>
                    </a:ext>
                  </a:extLst>
                </a:gridCol>
              </a:tblGrid>
              <a:tr h="379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Examples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1973722836"/>
                  </a:ext>
                </a:extLst>
              </a:tr>
              <a:tr h="379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math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Mathematical operations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sqrt(), factorial()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4054267481"/>
                  </a:ext>
                </a:extLst>
              </a:tr>
              <a:tr h="379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number generation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randint(), choice()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899042084"/>
                  </a:ext>
                </a:extLst>
              </a:tr>
              <a:tr h="379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statistics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Statistical calculations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mean(), median()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3794936535"/>
                  </a:ext>
                </a:extLst>
              </a:tr>
              <a:tr h="664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itertools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iterator operations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count(), cycle(), permutations()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389889738"/>
                  </a:ext>
                </a:extLst>
              </a:tr>
              <a:tr h="379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Operating-system interaction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getcwd(), listdir()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103900251"/>
                  </a:ext>
                </a:extLst>
              </a:tr>
              <a:tr h="664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datetime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 and time operations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date.today(), datetime.now()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3875240392"/>
                  </a:ext>
                </a:extLst>
              </a:tr>
              <a:tr h="379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runtime information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sys.version, sys.path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3200024614"/>
                  </a:ext>
                </a:extLst>
              </a:tr>
              <a:tr h="379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collections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Specialized container types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Counter, deque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1692823622"/>
                  </a:ext>
                </a:extLst>
              </a:tr>
              <a:tr h="664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json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JSON encoding and decoding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json.dumps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(),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json.loads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3020960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8749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D57CC-E033-15D4-0D46-49B9F10B5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math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A7E8B-3D14-14B6-B788-0058CC22D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math module provides mathematical functions and constants.</a:t>
            </a:r>
            <a:endParaRPr lang="en-IN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175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EB37-A805-C134-E9B3-AC599CF85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1: Square root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4CE20-3340-987D-46CB-2260B4D42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math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= 81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=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math.sqrt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(number)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print("Square root:", result)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56BD03-24FD-2690-DA06-9C23622C5D30}"/>
              </a:ext>
            </a:extLst>
          </p:cNvPr>
          <p:cNvSpPr/>
          <p:nvPr/>
        </p:nvSpPr>
        <p:spPr>
          <a:xfrm>
            <a:off x="6702458" y="1825625"/>
            <a:ext cx="3959257" cy="29160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Square root: 9.0</a:t>
            </a:r>
          </a:p>
        </p:txBody>
      </p:sp>
    </p:spTree>
    <p:extLst>
      <p:ext uri="{BB962C8B-B14F-4D97-AF65-F5344CB8AC3E}">
        <p14:creationId xmlns:p14="http://schemas.microsoft.com/office/powerpoint/2010/main" val="218759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34452-887E-E5D4-03E2-A233A24E8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2: Factorial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C6133-987E-77D0-6C0F-381953317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math</a:t>
            </a:r>
          </a:p>
          <a:p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math.factorial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8B51214-764A-220A-61BD-51DCB1191FE2}"/>
              </a:ext>
            </a:extLst>
          </p:cNvPr>
          <p:cNvSpPr/>
          <p:nvPr/>
        </p:nvSpPr>
        <p:spPr>
          <a:xfrm>
            <a:off x="6711885" y="2403835"/>
            <a:ext cx="3723587" cy="242268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</a:p>
        </p:txBody>
      </p:sp>
    </p:spTree>
    <p:extLst>
      <p:ext uri="{BB962C8B-B14F-4D97-AF65-F5344CB8AC3E}">
        <p14:creationId xmlns:p14="http://schemas.microsoft.com/office/powerpoint/2010/main" val="16854864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058E8-7FD6-2B24-EB45-4D4BE9697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3: Mathematical constants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DF333-BB96-D3B5-DE99-EBEE8C9DC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math</a:t>
            </a:r>
          </a:p>
          <a:p>
            <a:pPr marL="0" indent="0">
              <a:buNone/>
            </a:pP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print("Pi:",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math.pi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print("Euler's number:",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math.e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7164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A846D-0957-5088-A842-6974867D9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random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CA4BD-8DF1-FF91-104A-8B030E2AC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144" y="1527142"/>
            <a:ext cx="10599656" cy="464982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random module provides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pseudorandom number generation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447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07892-95A2-B7A4-FA11-BA6DFCCCF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1: Generate a random integer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B1A65-FC7F-E6D2-F8C8-FD3FDF5A8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random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=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random.randint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(1, 10)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print(number)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4224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1A0-A242-9A4A-683F-258FD4E6A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2: Select a random item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B0632-1A6F-FB01-39AB-63552A0A2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random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subjects = ["Python", "Java", "C++", "Data Science"]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random.choice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(subjects))</a:t>
            </a:r>
          </a:p>
        </p:txBody>
      </p:sp>
    </p:spTree>
    <p:extLst>
      <p:ext uri="{BB962C8B-B14F-4D97-AF65-F5344CB8AC3E}">
        <p14:creationId xmlns:p14="http://schemas.microsoft.com/office/powerpoint/2010/main" val="9908947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4BE9B-5B0B-1E0D-EF25-B3D8452AB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statistics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8A791-984D-1046-FA52-534ADF89B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provides functions for common statistical calculations.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statistics</a:t>
            </a:r>
          </a:p>
          <a:p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marks = [70, 80, 90, 85, 75]</a:t>
            </a:r>
          </a:p>
          <a:p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print("Mean:",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statistics.mean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(marks))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print("Median:",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statistics.median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(marks))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1414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F3872-BACC-8F00-10A4-631BEC051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User-defined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EB135-1D38-BC95-0AFB-39162C4D1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user-defined module is a Python file created by a programmer to store reusable functions, classes, variables, or related code.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a programmer can create a module named calculator.py and use its functions in another Python file.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9149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A30BF-7AC4-75D4-6BFE-F254C10A6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 user-defined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E54C1-66CB-43CD-9D71-A8BBD6ED0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we create two files in the same directory.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E07845-CF73-C71D-9434-168A1AF834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212" y="2777433"/>
            <a:ext cx="6726450" cy="163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6781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00E04F-5095-8684-8D6C-78C135021049}"/>
              </a:ext>
            </a:extLst>
          </p:cNvPr>
          <p:cNvSpPr txBox="1"/>
          <p:nvPr/>
        </p:nvSpPr>
        <p:spPr>
          <a:xfrm>
            <a:off x="716437" y="226243"/>
            <a:ext cx="11349872" cy="6680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1: calculator.py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User-defined module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add(a, b):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a + b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subtract(a, b):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a - b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multiply(a, b):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a * b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divide(a, b):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 b == 0: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raise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ValueError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("Cannot divide by zero")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a / b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1072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EFCFFD-217B-4819-8DBC-118F5A053EE2}"/>
              </a:ext>
            </a:extLst>
          </p:cNvPr>
          <p:cNvSpPr txBox="1"/>
          <p:nvPr/>
        </p:nvSpPr>
        <p:spPr>
          <a:xfrm>
            <a:off x="1074656" y="980388"/>
            <a:ext cx="10199802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2: main.py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calculator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calculator.add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(10, 5))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calculator.subtract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(10, 5))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calculator.multiply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(10, 5))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calculator.divide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(10, 5))</a:t>
            </a:r>
          </a:p>
        </p:txBody>
      </p:sp>
    </p:spTree>
    <p:extLst>
      <p:ext uri="{BB962C8B-B14F-4D97-AF65-F5344CB8AC3E}">
        <p14:creationId xmlns:p14="http://schemas.microsoft.com/office/powerpoint/2010/main" val="27050042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2C226-9070-E10A-50BC-6F4A6EB9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Importing selected functions from a user-defined module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163DD-BFFC-5675-04BD-46E1AF48E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23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calculator import add, multiply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print(add(20, 30))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print(multiply(20, 30))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2065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CAEA9-1590-99D4-2002-1C10C64C2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Special variable __name__ :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6FAAF-6E93-BEF1-3396-A744F6DA7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every Python program , a special variable name will be added internally.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variable stores information regarding whether the program is executed as an individual program or as a module. 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3079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783B4-8C19-7E16-95FB-703B1CCE2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Special variable __name__ :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75B21-1473-7910-01A9-85A592642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__name__ is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built-in variable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Python. It tells us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 Python file is being used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value depends on whether the file is: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directly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Imported as a module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7086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E0D3C-AACE-DA86-22A5-8B3969E85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Special variable __name__ :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93C6D-F2F9-0B77-F28E-5AA648D00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Python file is run directly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file named demo.py: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print(__name__)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demo.py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__main__</a:t>
            </a:r>
          </a:p>
        </p:txBody>
      </p:sp>
    </p:spTree>
    <p:extLst>
      <p:ext uri="{BB962C8B-B14F-4D97-AF65-F5344CB8AC3E}">
        <p14:creationId xmlns:p14="http://schemas.microsoft.com/office/powerpoint/2010/main" val="20910471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91A3-540E-5E03-791C-9C397688F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0369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if __name__ == "__main__":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2602A-D430-D211-CC3D-27A550B96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0132"/>
            <a:ext cx="10515600" cy="5356831"/>
          </a:xfrm>
        </p:spPr>
        <p:txBody>
          <a:bodyPr>
            <a:norm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demo.py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add(a, b):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a + b</a:t>
            </a:r>
          </a:p>
          <a:p>
            <a:pPr marL="0" indent="0">
              <a:buNone/>
            </a:pP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main():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x = 10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y = 20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print("Sum =", add(x, y))</a:t>
            </a:r>
          </a:p>
          <a:p>
            <a:pPr marL="0" indent="0">
              <a:buNone/>
            </a:pP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__name__ == "__main__":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main()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9EF5241-CCD2-D98B-4BC5-AB3F0BE53D8E}"/>
              </a:ext>
            </a:extLst>
          </p:cNvPr>
          <p:cNvSpPr/>
          <p:nvPr/>
        </p:nvSpPr>
        <p:spPr>
          <a:xfrm>
            <a:off x="5665508" y="1640265"/>
            <a:ext cx="4675695" cy="30448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demo.py</a:t>
            </a:r>
          </a:p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 = 30</a:t>
            </a:r>
          </a:p>
        </p:txBody>
      </p:sp>
    </p:spTree>
    <p:extLst>
      <p:ext uri="{BB962C8B-B14F-4D97-AF65-F5344CB8AC3E}">
        <p14:creationId xmlns:p14="http://schemas.microsoft.com/office/powerpoint/2010/main" val="20837553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396BD-592C-91FE-4ABC-390122A8A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when the file is imported?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73934-D6B9-ABCC-9F55-ADD5FBE53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we have two files.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calculator.py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add(a, b):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a + b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__name__ == "__main__":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print(add(10, 20))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3540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A618-4EB0-A9BE-4A0B-F8590AFCF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when the file is imported?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46CF0-DB5A-DE70-5101-1E847FC1C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test.py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calculator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calculator.add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(5, 3))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1E82C00-CDB0-DA1D-CADC-483B898765C8}"/>
              </a:ext>
            </a:extLst>
          </p:cNvPr>
          <p:cNvSpPr/>
          <p:nvPr/>
        </p:nvSpPr>
        <p:spPr>
          <a:xfrm>
            <a:off x="5712643" y="2460396"/>
            <a:ext cx="4920792" cy="29034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test.py</a:t>
            </a:r>
          </a:p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56462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1254</Words>
  <Application>Microsoft Office PowerPoint</Application>
  <PresentationFormat>Widescreen</PresentationFormat>
  <Paragraphs>263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Light</vt:lpstr>
      <vt:lpstr>Times New Roman</vt:lpstr>
      <vt:lpstr>Office Theme</vt:lpstr>
      <vt:lpstr>Modules and Packages</vt:lpstr>
      <vt:lpstr>What is a module?</vt:lpstr>
      <vt:lpstr>Example</vt:lpstr>
      <vt:lpstr>PowerPoint Presentation</vt:lpstr>
      <vt:lpstr>Why do we need modules?</vt:lpstr>
      <vt:lpstr>Example without modules</vt:lpstr>
      <vt:lpstr>Types of Python modules</vt:lpstr>
      <vt:lpstr>Importing modules in Python</vt:lpstr>
      <vt:lpstr>Example:</vt:lpstr>
      <vt:lpstr>Import a specific function</vt:lpstr>
      <vt:lpstr>Example</vt:lpstr>
      <vt:lpstr>Import a module using an alias</vt:lpstr>
      <vt:lpstr>Import all names</vt:lpstr>
      <vt:lpstr>Built-in and standard-library modules</vt:lpstr>
      <vt:lpstr>Important standard-library modules</vt:lpstr>
      <vt:lpstr>The math module</vt:lpstr>
      <vt:lpstr>Example 1: Square root</vt:lpstr>
      <vt:lpstr>Example 2: Factorial</vt:lpstr>
      <vt:lpstr>Example 3: Mathematical constants</vt:lpstr>
      <vt:lpstr>The random module</vt:lpstr>
      <vt:lpstr>Example 1: Generate a random integer</vt:lpstr>
      <vt:lpstr>Example 2: Select a random item</vt:lpstr>
      <vt:lpstr>The statistics module</vt:lpstr>
      <vt:lpstr>User-defined modules</vt:lpstr>
      <vt:lpstr>Creating a user-defined module</vt:lpstr>
      <vt:lpstr>PowerPoint Presentation</vt:lpstr>
      <vt:lpstr>PowerPoint Presentation</vt:lpstr>
      <vt:lpstr>Importing selected functions from a user-defined module </vt:lpstr>
      <vt:lpstr>The Special variable __name__ : </vt:lpstr>
      <vt:lpstr>The Special variable __name__ : </vt:lpstr>
      <vt:lpstr>The Special variable __name__ : </vt:lpstr>
      <vt:lpstr>Using if __name__ == "__main__":</vt:lpstr>
      <vt:lpstr>What happens when the file is imported?</vt:lpstr>
      <vt:lpstr>What happens when the file is imported?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VINOD KUMAR</dc:creator>
  <cp:lastModifiedBy>S VINOD KUMAR</cp:lastModifiedBy>
  <cp:revision>2</cp:revision>
  <dcterms:created xsi:type="dcterms:W3CDTF">2026-09-29T01:18:57Z</dcterms:created>
  <dcterms:modified xsi:type="dcterms:W3CDTF">2026-09-30T09:30:54Z</dcterms:modified>
</cp:coreProperties>
</file>