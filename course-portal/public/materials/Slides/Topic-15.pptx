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7" r:id="rId11"/>
    <p:sldId id="262" r:id="rId12"/>
    <p:sldId id="26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978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394960"/>
            <a:ext cx="1828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394960"/>
            <a:ext cx="1828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5394960"/>
            <a:ext cx="1828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5394960"/>
            <a:ext cx="1828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5394960"/>
            <a:ext cx="1828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5394960"/>
            <a:ext cx="1828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5394960"/>
            <a:ext cx="1828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0" y="5394960"/>
            <a:ext cx="1828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0" y="5394960"/>
            <a:ext cx="1828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0" y="5394960"/>
            <a:ext cx="1828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8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800" b="1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196596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String</a:t>
            </a:r>
            <a:endParaRPr lang="en-US" sz="5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50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2926080" cy="4114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43400"/>
            <a:ext cx="1435608" cy="420624"/>
          </a:xfrm>
          <a:prstGeom prst="roundRect">
            <a:avLst>
              <a:gd name="adj" fmla="val 50000"/>
            </a:avLst>
          </a:prstGeom>
          <a:solidFill>
            <a:srgbClr val="1B335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43400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59736" y="4343400"/>
            <a:ext cx="1435608" cy="420624"/>
          </a:xfrm>
          <a:prstGeom prst="roundRect">
            <a:avLst>
              <a:gd name="adj" fmla="val 50000"/>
            </a:avLst>
          </a:prstGeom>
          <a:solidFill>
            <a:srgbClr val="1B33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9736" y="4343400"/>
            <a:ext cx="14356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96512" y="4343400"/>
            <a:ext cx="1120140" cy="420624"/>
          </a:xfrm>
          <a:prstGeom prst="roundRect">
            <a:avLst>
              <a:gd name="adj" fmla="val 50000"/>
            </a:avLst>
          </a:prstGeom>
          <a:solidFill>
            <a:srgbClr val="1B3350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6512" y="4343400"/>
            <a:ext cx="11201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17820" y="4343400"/>
            <a:ext cx="1330452" cy="420624"/>
          </a:xfrm>
          <a:prstGeom prst="roundRect">
            <a:avLst>
              <a:gd name="adj" fmla="val 50000"/>
            </a:avLst>
          </a:prstGeom>
          <a:solidFill>
            <a:srgbClr val="1B33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7820" y="4343400"/>
            <a:ext cx="13304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49440" y="4343400"/>
            <a:ext cx="1330452" cy="420624"/>
          </a:xfrm>
          <a:prstGeom prst="roundRect">
            <a:avLst>
              <a:gd name="adj" fmla="val 50000"/>
            </a:avLst>
          </a:prstGeom>
          <a:solidFill>
            <a:srgbClr val="1B335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4343400"/>
            <a:ext cx="13304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074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guide to the five core string skills every Python developer needs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·  QUICK REFERENCE DECK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to Work With Strings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E2A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28216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60" y="1866108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95560" y="1600200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17320" y="1673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1965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equality and order strings with ==, !=, &lt;, &gt; and in.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532888"/>
            <a:ext cx="112471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E2A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26609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format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60" y="2798796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195560" y="2532888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41732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Formatting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417320" y="28986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output strings with f-strings, .format() and %.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465576"/>
            <a:ext cx="112471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E2A3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" y="3593592"/>
            <a:ext cx="530352" cy="530352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8" name="Image 2" descr="slic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60" y="3731484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195560" y="3465576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417320" y="3538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417320" y="383133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out substrings using start:stop:step indexing.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57200" y="4398264"/>
            <a:ext cx="112471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E2A3A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" y="452628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splitt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60" y="4664172"/>
            <a:ext cx="254569" cy="2545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195560" y="4398264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1417320" y="44714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417320" y="476402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string into a list on a delimiter.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57200" y="5330952"/>
            <a:ext cx="112471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E2A3A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58368" y="545896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stripp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260" y="5596860"/>
            <a:ext cx="254569" cy="25456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195560" y="5330952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7DE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1417320" y="5404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Stripping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417320" y="56967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unwanted leading/trailing characters or whitespace.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7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COMPARISON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Strings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298448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compare lexicographically, character by character, using Unicode code points.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E7EEF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0116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36192" y="2011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value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578608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E7EEF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57860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536192" y="25786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145536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E7EEF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14553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/ &gt;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536192" y="31455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Lexicographic order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3712464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E7EEF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71246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36192" y="37124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test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4279392"/>
            <a:ext cx="960120" cy="457200"/>
          </a:xfrm>
          <a:prstGeom prst="roundRect">
            <a:avLst>
              <a:gd name="adj" fmla="val 14000"/>
            </a:avLst>
          </a:prstGeom>
          <a:solidFill>
            <a:srgbClr val="E7EEF4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27939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536192" y="42793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object (identity)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63640" y="132588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519672" y="1490472"/>
            <a:ext cx="4928616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Equality &amp; order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"apple", "banana"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"apple"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&lt; b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(a &lt; b)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Case matters!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 == "cat"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Case-insensitive compare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"Cat".lower() == "cat".lower()</a:t>
            </a:r>
            <a:endParaRPr lang="en-US" sz="12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DF1DD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5193792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9C6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1200" dirty="0">
                <a:solidFill>
                  <a:srgbClr val="6B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are case-sensitive and based on character code points, so uppercase letters sort before lowercase ones ("Z" &lt; "a"). Normalize with .lower() or .casefold() before comparing user input.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forma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7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FORMATTING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Formatting Strings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611880" cy="603504"/>
          </a:xfrm>
          <a:prstGeom prst="roundRect">
            <a:avLst>
              <a:gd name="adj" fmla="val 10606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3716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f-strings  (3.6+)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71907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&amp; most readable — preferred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2084832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" y="2249424"/>
            <a:ext cx="30998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age = "Ana", 30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print(f"{name} is {age}")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 is 30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print(f"{3.14159:.2f}")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3.14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51960" y="1371600"/>
            <a:ext cx="3611880" cy="603504"/>
          </a:xfrm>
          <a:prstGeom prst="roundRect">
            <a:avLst>
              <a:gd name="adj" fmla="val 10606"/>
            </a:avLst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4389120" y="13716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.format()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389120" y="171907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works pre-3.6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51960" y="2084832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07992" y="2249424"/>
            <a:ext cx="30998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"{} is {}".format(name, age)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 is 30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"{0} again, {0}!".format(name)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 again, Ana!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46720" y="1371600"/>
            <a:ext cx="3611880" cy="603504"/>
          </a:xfrm>
          <a:prstGeom prst="roundRect">
            <a:avLst>
              <a:gd name="adj" fmla="val 10606"/>
            </a:avLst>
          </a:prstGeom>
          <a:solidFill>
            <a:srgbClr val="F2A541"/>
          </a:solidFill>
          <a:ln/>
        </p:spPr>
      </p:sp>
      <p:sp>
        <p:nvSpPr>
          <p:cNvPr id="17" name="Text 14"/>
          <p:cNvSpPr/>
          <p:nvPr/>
        </p:nvSpPr>
        <p:spPr>
          <a:xfrm>
            <a:off x="8183880" y="13716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operator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83880" y="171907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C-style formatting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046720" y="2084832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302752" y="2249424"/>
            <a:ext cx="30998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 is %d" % (name, age)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 is 30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"%.2f" % 3.14159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3.14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4206240"/>
            <a:ext cx="11247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E2A3A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13232" y="43434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format specs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3232" y="47365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f"{x:.2f}"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404872" y="47365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decimal places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416552" y="47365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f"{x:&gt;10}"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08192" y="47365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right-align, width 10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119872" y="473659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f"{x:&lt;10}"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811512" y="47365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left-align, width 10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13232" y="535838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f"{x:^10}"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404872" y="535838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center-align, width 10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416552" y="535838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f"{x:,}"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108192" y="535838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separator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119872" y="535838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f"{x:05d}"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11512" y="535838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zero-padded to 5 digits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slic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7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SLICING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 Strings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2984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s[start:stop:step]  — extracts a substring without changing the original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280160" y="1874520"/>
            <a:ext cx="658368" cy="566928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187452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280160" y="158191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247802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38528" y="1874520"/>
            <a:ext cx="658368" cy="56692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38528" y="187452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938528" y="158191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38528" y="247802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96896" y="1874520"/>
            <a:ext cx="658368" cy="566928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96896" y="187452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596896" y="158191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596896" y="247802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55264" y="1874520"/>
            <a:ext cx="658368" cy="56692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55264" y="187452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255264" y="158191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55264" y="247802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913632" y="1874520"/>
            <a:ext cx="658368" cy="566928"/>
          </a:xfrm>
          <a:prstGeom prst="rect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13632" y="187452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913632" y="158191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913632" y="247802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0" y="1874520"/>
            <a:ext cx="658368" cy="566928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0" y="187452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4572000" y="158191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0" y="247802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A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367528" y="15819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index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367528" y="24780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index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57200" y="3063240"/>
            <a:ext cx="5623560" cy="3291840"/>
          </a:xfrm>
          <a:prstGeom prst="roundRect">
            <a:avLst>
              <a:gd name="adj" fmla="val 2222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13232" y="3227832"/>
            <a:ext cx="511149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"PYTHON"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s[0]        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'P'  (first char)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s[-1]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'N'  (last char)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s[1:4]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'YTH'  (idx 1,2,3)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s[:3]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'PYT'  (start omitted)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s[3:]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'HON'  (stop omitted)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s[::-1]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'NOHTYP'  (reversed)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s[::2]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'PTO'  (every 2nd char)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355080" y="306324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E2A3A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629400" y="32461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to remember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629400" y="369417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8" name="Text 35"/>
          <p:cNvSpPr/>
          <p:nvPr/>
        </p:nvSpPr>
        <p:spPr>
          <a:xfrm>
            <a:off x="6858000" y="35844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index is exclusive — never included in the result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629400" y="420624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409651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Omitting start defaults to 0; omitting stop defaults to len(s)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629400" y="471830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2" name="Text 39"/>
          <p:cNvSpPr/>
          <p:nvPr/>
        </p:nvSpPr>
        <p:spPr>
          <a:xfrm>
            <a:off x="6858000" y="460857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step walks the string backwards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6629400" y="523036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51206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indices never raise an error — they just clip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629400" y="574243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6" name="Text 43"/>
          <p:cNvSpPr/>
          <p:nvPr/>
        </p:nvSpPr>
        <p:spPr>
          <a:xfrm>
            <a:off x="6858000" y="563270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always returns a new string; the original is untouched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269A86-AAB4-AE02-0EB2-E2B56872EDB9}"/>
              </a:ext>
            </a:extLst>
          </p:cNvPr>
          <p:cNvSpPr txBox="1"/>
          <p:nvPr/>
        </p:nvSpPr>
        <p:spPr>
          <a:xfrm>
            <a:off x="1017494" y="510988"/>
            <a:ext cx="10157012" cy="5351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 Python Strings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 we can slice strings into substrings.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= 'Python'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first_three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language[0:3] # starts at zero index and up to 3 but not include 3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first_three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#Pyt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last_three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language[3:6]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last_three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# hon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Another way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last_three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language[-3:]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last_three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# hon</a:t>
            </a:r>
          </a:p>
          <a:p>
            <a:pPr algn="just"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last_three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language[3:]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last_three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# hon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809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D267F6-5FBC-196C-1E11-6D4E4F356BB0}"/>
              </a:ext>
            </a:extLst>
          </p:cNvPr>
          <p:cNvSpPr txBox="1"/>
          <p:nvPr/>
        </p:nvSpPr>
        <p:spPr>
          <a:xfrm>
            <a:off x="1165412" y="1057835"/>
            <a:ext cx="7978588" cy="3461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Reversing a String :</a:t>
            </a:r>
          </a:p>
          <a:p>
            <a:endParaRPr lang="en-IN" sz="2800" dirty="0"/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easily reverse strings in python.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greeting = 'Hello, World!'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print(greeting[::-1]) # !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dlroW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olleH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75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09E2D4-DF31-2F8C-E7AF-0045F9C88211}"/>
              </a:ext>
            </a:extLst>
          </p:cNvPr>
          <p:cNvSpPr txBox="1"/>
          <p:nvPr/>
        </p:nvSpPr>
        <p:spPr>
          <a:xfrm>
            <a:off x="1138518" y="932329"/>
            <a:ext cx="9861176" cy="371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Skipping Characters While Slicing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skip characters while slicing by passing step argument to slice method.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= 'Python'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pto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language[0:6:2] #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pto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#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Pto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06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spli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7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SPLITTING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Strings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298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one string into a list of substrings around a delimiter.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8288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red,green,blue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800600" y="18288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.split(",")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2084832"/>
            <a:ext cx="5029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086600" y="1755648"/>
            <a:ext cx="813816" cy="64008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1755648"/>
            <a:ext cx="813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65008" y="1755648"/>
            <a:ext cx="1051560" cy="64008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8065008" y="1755648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281160" y="1755648"/>
            <a:ext cx="932688" cy="64008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9281160" y="1755648"/>
            <a:ext cx="9326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697480"/>
            <a:ext cx="5623560" cy="3566160"/>
          </a:xfrm>
          <a:prstGeom prst="roundRect">
            <a:avLst>
              <a:gd name="adj" fmla="val 2051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04267" y="2862072"/>
            <a:ext cx="511149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"red,green,blue"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s.split(",")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['red', 'green', 'blue']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b   c".split()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['a', 'b', 'c']  (any whitespace)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s.split(",", 1)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['red', 'green,blue']  (maxsplit)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"a,b,c".rsplit(",", 1)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['a,b', 'c']  (splits from the right)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"line1\nline2".splitlines()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['line1', 'line2']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355080" y="269748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E2A3A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629400" y="28803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split()  vs  rsplit()  vs  splitlines()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629400" y="32918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split(sep, maxsplit)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29400" y="3566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left→right; default sep is any whitespace, dropping empty results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29400" y="4206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rsplit(sep, maxsplit)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629400" y="4480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split, but counts maxsplit from the right end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29400" y="5120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splitlines()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629400" y="5394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line boundaries (\n, \r\n) — great for reading text files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4C0920-3596-0217-99A3-4011FDAF3369}"/>
              </a:ext>
            </a:extLst>
          </p:cNvPr>
          <p:cNvSpPr txBox="1"/>
          <p:nvPr/>
        </p:nvSpPr>
        <p:spPr>
          <a:xfrm>
            <a:off x="914400" y="753035"/>
            <a:ext cx="993289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Strings in Python 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by spaces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= "Python is easy to learn"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words =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text.split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print(words)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['Python', 'is', 'easy', 'to', 'learn']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136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stri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76" y="628376"/>
            <a:ext cx="316017" cy="3160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STRIPPING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7665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Stripping Strings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unwanted characters (default: whitespace) from the ends of a string.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E7EEF4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874520"/>
            <a:ext cx="1005840" cy="685800"/>
          </a:xfrm>
          <a:prstGeom prst="rect">
            <a:avLst/>
          </a:prstGeom>
          <a:solidFill>
            <a:srgbClr val="F6C1A9"/>
          </a:solidFill>
          <a:ln/>
        </p:spPr>
      </p:sp>
      <p:sp>
        <p:nvSpPr>
          <p:cNvPr id="9" name="Shape 6"/>
          <p:cNvSpPr/>
          <p:nvPr/>
        </p:nvSpPr>
        <p:spPr>
          <a:xfrm>
            <a:off x="4160520" y="1874520"/>
            <a:ext cx="1005840" cy="685800"/>
          </a:xfrm>
          <a:prstGeom prst="rect">
            <a:avLst/>
          </a:prstGeom>
          <a:solidFill>
            <a:srgbClr val="F6C1A9"/>
          </a:solidFill>
          <a:ln/>
        </p:spPr>
      </p:sp>
      <p:sp>
        <p:nvSpPr>
          <p:cNvPr id="10" name="Shape 7"/>
          <p:cNvSpPr/>
          <p:nvPr/>
        </p:nvSpPr>
        <p:spPr>
          <a:xfrm>
            <a:off x="1463040" y="1874520"/>
            <a:ext cx="269748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1463040" y="18745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" y="2587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60520" y="2587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6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463040" y="2587752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37960" y="2212848"/>
            <a:ext cx="457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178040" y="1892808"/>
            <a:ext cx="1783080" cy="64008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7178040" y="189280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" y="2971800"/>
            <a:ext cx="5623560" cy="3291840"/>
          </a:xfrm>
          <a:prstGeom prst="roundRect">
            <a:avLst>
              <a:gd name="adj" fmla="val 2222"/>
            </a:avLst>
          </a:prstGeom>
          <a:solidFill>
            <a:srgbClr val="0D1B2A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13232" y="3136392"/>
            <a:ext cx="511149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   hello   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s.strip()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"hello"  (both ends)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s.lstrip()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"hello   "  (left only)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s.rstrip()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   hello"  (right only)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"--path--".strip("-")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"path"  (custom chars)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"xxhixx".strip("x")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A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"hi"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55080" y="29718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63500" dist="19050" dir="5400000" algn="bl" rotWithShape="0">
              <a:srgbClr val="1E2A3A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629400" y="31546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to know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629400" y="362102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0" y="351129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 to strip() is a set of characters, not a substring — order doesn't matter</a:t>
            </a:r>
            <a:endParaRPr lang="en-US" sz="1130" dirty="0"/>
          </a:p>
        </p:txBody>
      </p:sp>
      <p:sp>
        <p:nvSpPr>
          <p:cNvPr id="24" name="Shape 21"/>
          <p:cNvSpPr/>
          <p:nvPr/>
        </p:nvSpPr>
        <p:spPr>
          <a:xfrm>
            <a:off x="6629400" y="415137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0" y="404164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removes characters from the ends; interior matches are left alone</a:t>
            </a:r>
            <a:endParaRPr lang="en-US" sz="1130" dirty="0"/>
          </a:p>
        </p:txBody>
      </p:sp>
      <p:sp>
        <p:nvSpPr>
          <p:cNvPr id="26" name="Shape 23"/>
          <p:cNvSpPr/>
          <p:nvPr/>
        </p:nvSpPr>
        <p:spPr>
          <a:xfrm>
            <a:off x="6629400" y="468172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0" y="457200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with no args removes spaces, tabs, and newlines</a:t>
            </a:r>
            <a:endParaRPr lang="en-US" sz="1130" dirty="0"/>
          </a:p>
        </p:txBody>
      </p:sp>
      <p:sp>
        <p:nvSpPr>
          <p:cNvPr id="28" name="Shape 25"/>
          <p:cNvSpPr/>
          <p:nvPr/>
        </p:nvSpPr>
        <p:spPr>
          <a:xfrm>
            <a:off x="6629400" y="521208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0" y="510235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returns a new string — the original is never mutated</a:t>
            </a:r>
            <a:endParaRPr lang="en-US" sz="1130" dirty="0"/>
          </a:p>
        </p:txBody>
      </p:sp>
      <p:sp>
        <p:nvSpPr>
          <p:cNvPr id="30" name="Shape 27"/>
          <p:cNvSpPr/>
          <p:nvPr/>
        </p:nvSpPr>
        <p:spPr>
          <a:xfrm>
            <a:off x="6629400" y="574243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0" y="563270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30" dirty="0">
                <a:solidFill>
                  <a:srgbClr val="45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well with split() when cleaning up user input line by line</a:t>
            </a:r>
            <a:endParaRPr lang="en-US" sz="1130" dirty="0"/>
          </a:p>
        </p:txBody>
      </p:sp>
      <p:sp>
        <p:nvSpPr>
          <p:cNvPr id="32" name="Text 29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STRINGS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33856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String Skills, One Line Each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1B33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82296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160020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 == "b",  "a" &lt; "b",  "x" in 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59736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1B335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459736"/>
            <a:ext cx="82296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5973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2459736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f"{value:.2f}"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19272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1B335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319272"/>
            <a:ext cx="82296" cy="713232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1927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3319272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s[start:stop:step]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78808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1B335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178808"/>
            <a:ext cx="82296" cy="7132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7880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4178808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s.split(",")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38344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1B335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5038344"/>
            <a:ext cx="82296" cy="7132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03834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Stripping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49040" y="5038344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s.strip()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Thanks!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1232</Words>
  <Application>Microsoft Office PowerPoint</Application>
  <PresentationFormat>Widescreen</PresentationFormat>
  <Paragraphs>266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 VINOD KUMAR</cp:lastModifiedBy>
  <cp:revision>2</cp:revision>
  <dcterms:created xsi:type="dcterms:W3CDTF">2026-08-25T03:51:03Z</dcterms:created>
  <dcterms:modified xsi:type="dcterms:W3CDTF">2026-08-27T10:39:25Z</dcterms:modified>
</cp:coreProperties>
</file>