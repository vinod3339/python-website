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66F11-4EA1-EF88-D71B-6F9FCF692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69D7D-D3F4-11C5-EE3D-C6BBFA690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0B031-DDC1-4BC1-F8C9-07723F944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DA27-4FFC-41B5-ADEC-1615261BA3E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2CE76-2C1C-CD7A-204D-4BF0F13E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B05D0-4C46-7BAB-178D-DD1AD0277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7725-DC57-4984-A9C1-D581D9FC4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18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2DE89-EDC6-27FA-E91F-021F50BB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AF672-F10D-9426-E4C1-E64E08F62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5E54B-4312-CE2F-AD44-92D4C793B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DA27-4FFC-41B5-ADEC-1615261BA3E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B82A5-45FF-E254-7239-79C44FFC3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CF164-9D65-B6F5-7F1E-70B4C2EA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7725-DC57-4984-A9C1-D581D9FC4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848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A91B1-7B74-D29D-4EBA-1B896883C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809AA-1FD8-206D-414F-929EE70BD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0FEC6-717D-4608-DB71-0469288D5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DA27-4FFC-41B5-ADEC-1615261BA3E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B0E51-1F65-D41A-87D9-A40F3A996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C6126-F395-3409-7224-02C70BF9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7725-DC57-4984-A9C1-D581D9FC4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866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2F042-E1B7-0547-C6E5-293AD7125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0DC3A-443F-70E1-C224-C08E89C35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12073-41D0-2AA4-DDEA-6D5091283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00379-1388-CFF3-236B-DD9995DC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DA27-4FFC-41B5-ADEC-1615261BA3E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FAD28-5822-ACED-6F68-26602444F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6B680-8836-CB8D-E21A-85D93B7E6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7725-DC57-4984-A9C1-D581D9FC4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918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5EB0E-AEF0-8853-E9D7-B279F6D44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E64BB-6D1C-BC65-E5D2-4B5D643E1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A86A4-26EA-FDAE-34EC-DAAF0161C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A971B4-1911-1D4B-BE7D-BE9E4C9496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EBB773-6457-2574-72D9-EA4728C1D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1D1EDA-8995-E2EF-C49E-FB709EAAE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DA27-4FFC-41B5-ADEC-1615261BA3E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171088-E998-A8F8-2D1C-F40CCAF76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FD6A97-388C-9E09-C087-63EBCFA3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7725-DC57-4984-A9C1-D581D9FC4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336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4676B-620B-0147-4E55-5799ABBCE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96BDE0-E0D0-4D44-F83F-9314D37F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DA27-4FFC-41B5-ADEC-1615261BA3E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63AB8-C6E2-BE1A-8638-04BE04262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51FBD4-B211-6710-DB00-E701B80C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7725-DC57-4984-A9C1-D581D9FC4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403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F90F9B-632B-3E68-BCE7-4A3A8D6AF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DA27-4FFC-41B5-ADEC-1615261BA3E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9E8AF8-058A-66F4-C4B6-E9C6988E4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E789B-65C2-211C-B663-4080C8E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7725-DC57-4984-A9C1-D581D9FC4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425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7A46-840B-BA47-A168-65ECEC566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2D53F-2C15-5C7C-959C-D9E3A6228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52DB6-262F-AC93-AE55-71F072CCC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3A693-8245-C33A-0386-55725FC55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DA27-4FFC-41B5-ADEC-1615261BA3E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BA9A1-5714-E671-47D6-13CC049E1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C709-99A2-4896-3DFF-67C308F4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7725-DC57-4984-A9C1-D581D9FC4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2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15C4A-904C-B02F-2C1C-17F969C4E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B804E8-0305-0328-A807-6AACA5285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4ED11-CFF5-79FC-B49B-9FD7883DF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A6D4A-AE17-1272-81AC-BC05FD4E2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DA27-4FFC-41B5-ADEC-1615261BA3E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D812E-62DC-85C9-386A-F582BA1B4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53C48-BE20-1C1B-DAA2-63820EA5D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7725-DC57-4984-A9C1-D581D9FC4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769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F851E-AE52-0032-6AFB-2D12E4891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FDA11-82AF-A8CC-A439-86C56F7FF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6EA73-D561-686D-510E-8A324FFD3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DA27-4FFC-41B5-ADEC-1615261BA3E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B8022-0DEF-911F-8428-1929C2177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F28D2-2DD3-899C-5158-C024ABD5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7725-DC57-4984-A9C1-D581D9FC4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019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B6319A-9D47-2193-7432-8A2DFC06A8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F0022-E7B0-7E09-6AB3-B3FF2B6CA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B2B1A-291D-34E1-058F-931ADF389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DA27-4FFC-41B5-ADEC-1615261BA3E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748BD-3541-7B38-8ABD-F3DF225A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800A5-2B15-88A0-6BC4-01513085C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7725-DC57-4984-A9C1-D581D9FC4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676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FA3048-4FC4-406F-2571-E9E09485C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5C6D6-D235-0F15-F02F-DAD914B74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DA80F-08B2-91BE-72C0-9BB064826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5DA27-4FFC-41B5-ADEC-1615261BA3E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70AC7-F9D6-31EF-7930-7F69FDD2D7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A1EDF-8BDC-7197-CF7E-D1F1622C2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67725-DC57-4984-A9C1-D581D9FC4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00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55B61-4150-4A9B-C892-1EA3C095C8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statements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DCB798-594B-93D4-B7DE-E2209D9FCE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While, for – Break, continue and pass statements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514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9221-8AD0-C63A-66EE-D8CA39DAF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Statements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C33F0-00C3-F4C2-E9F9-D93802615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157" y="1574276"/>
            <a:ext cx="10665643" cy="4602687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repeats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of a sequence of code.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is useful for solving many programming problems.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and conditional execution form the basis for algorithm construction.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supports different iterative/looping statements. They are: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827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F34F-E9A6-DE11-9786-380DEEF59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988FD-499E-88AA-43DA-D9065497C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972" y="1611984"/>
            <a:ext cx="10448827" cy="456497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general form/syntax of while is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expression: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statements #block of statements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12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4420D-D7A3-02FE-EDFD-83B7705F7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Flowchart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while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statement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2B8CA5E-A940-039E-1F05-62BAEFD66BEF}"/>
              </a:ext>
            </a:extLst>
          </p:cNvPr>
          <p:cNvSpPr/>
          <p:nvPr/>
        </p:nvSpPr>
        <p:spPr>
          <a:xfrm>
            <a:off x="7607431" y="2309567"/>
            <a:ext cx="3421930" cy="36010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Image 2">
            <a:extLst>
              <a:ext uri="{FF2B5EF4-FFF2-40B4-BE49-F238E27FC236}">
                <a16:creationId xmlns:a16="http://schemas.microsoft.com/office/drawing/2014/main" id="{FD547445-F7AE-1BA7-AD43-3E31C4A34648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07430" y="2309567"/>
            <a:ext cx="3421929" cy="36010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E777DE-DE5C-A454-960B-7DC071AF68C7}"/>
              </a:ext>
            </a:extLst>
          </p:cNvPr>
          <p:cNvSpPr txBox="1"/>
          <p:nvPr/>
        </p:nvSpPr>
        <p:spPr>
          <a:xfrm>
            <a:off x="838200" y="1866507"/>
            <a:ext cx="8303443" cy="4799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3031490" lvl="0" indent="-342900">
              <a:lnSpc>
                <a:spcPct val="145000"/>
              </a:lnSpc>
              <a:spcBef>
                <a:spcPts val="710"/>
              </a:spcBef>
              <a:buSzPts val="1200"/>
              <a:buFont typeface="Symbol" panose="05050102010706020507" pitchFamily="18" charset="2"/>
              <a:buChar char=""/>
              <a:tabLst>
                <a:tab pos="471805" algn="l"/>
              </a:tabLst>
            </a:pP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The</a:t>
            </a:r>
            <a:r>
              <a:rPr lang="en-US" sz="2400" spc="4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reserved</a:t>
            </a:r>
            <a:r>
              <a:rPr lang="en-US" sz="2400" spc="4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word</a:t>
            </a:r>
            <a:r>
              <a:rPr lang="en-US" sz="2400" spc="4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while</a:t>
            </a:r>
            <a:r>
              <a:rPr lang="en-US" sz="2400" spc="4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begins</a:t>
            </a:r>
            <a:r>
              <a:rPr lang="en-US" sz="2400" spc="4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the</a:t>
            </a:r>
            <a:r>
              <a:rPr lang="en-US" sz="2400" spc="4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while</a:t>
            </a:r>
            <a:r>
              <a:rPr lang="en-US" sz="2400" spc="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statement.</a:t>
            </a:r>
            <a:endParaRPr lang="en-IN" sz="2400" spc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marL="342900" marR="3033395" lvl="0" indent="-342900">
              <a:lnSpc>
                <a:spcPct val="145000"/>
              </a:lnSpc>
              <a:spcBef>
                <a:spcPts val="90"/>
              </a:spcBef>
              <a:buSzPts val="1200"/>
              <a:buFont typeface="Symbol" panose="05050102010706020507" pitchFamily="18" charset="2"/>
              <a:buChar char=""/>
              <a:tabLst>
                <a:tab pos="471805" algn="l"/>
              </a:tabLst>
            </a:pP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The</a:t>
            </a:r>
            <a:r>
              <a:rPr lang="en-US" sz="2400" spc="14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condition</a:t>
            </a:r>
            <a:r>
              <a:rPr lang="en-US" sz="2400" spc="15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determines</a:t>
            </a:r>
            <a:r>
              <a:rPr lang="en-US" sz="2400" spc="15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whether</a:t>
            </a:r>
            <a:r>
              <a:rPr lang="en-US" sz="2400" spc="14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the</a:t>
            </a:r>
            <a:r>
              <a:rPr lang="en-US" sz="2400" spc="14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body</a:t>
            </a:r>
            <a:r>
              <a:rPr lang="en-US" sz="2400" spc="15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will be (or will continue to be) executed.</a:t>
            </a:r>
            <a:endParaRPr lang="en-IN" sz="2400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marL="342900" marR="0" lvl="0" indent="-342900">
              <a:spcBef>
                <a:spcPts val="95"/>
              </a:spcBef>
              <a:buSzPts val="1200"/>
              <a:buFont typeface="Symbol" panose="05050102010706020507" pitchFamily="18" charset="2"/>
              <a:buChar char=""/>
              <a:tabLst>
                <a:tab pos="471805" algn="l"/>
              </a:tabLst>
            </a:pPr>
            <a:r>
              <a:rPr lang="en-US" sz="24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A</a:t>
            </a:r>
            <a:r>
              <a:rPr lang="en-US" sz="2400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colon (:)</a:t>
            </a:r>
            <a:r>
              <a:rPr lang="en-US" sz="24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must</a:t>
            </a:r>
            <a:r>
              <a:rPr lang="en-US" sz="24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follow the</a:t>
            </a:r>
            <a:r>
              <a:rPr lang="en-US" sz="2400" spc="-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40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condition.</a:t>
            </a:r>
            <a:endParaRPr lang="en-IN" sz="2400" spc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marL="342900" marR="3030855" lvl="0" indent="-342900">
              <a:lnSpc>
                <a:spcPct val="145000"/>
              </a:lnSpc>
              <a:spcBef>
                <a:spcPts val="690"/>
              </a:spcBef>
              <a:buSzPts val="1200"/>
              <a:buFont typeface="Symbol" panose="05050102010706020507" pitchFamily="18" charset="2"/>
              <a:buChar char=""/>
              <a:tabLst>
                <a:tab pos="471805" algn="l"/>
              </a:tabLst>
            </a:pP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block is a block of one or more statements to be executed as long as the condition is true.</a:t>
            </a:r>
            <a:endParaRPr lang="en-IN" sz="2400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96548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1122D-DE0A-DE7B-8D9E-43AFCA3E6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9FF46-EAE6-DDE7-E18B-539B6C104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#printing numbers from 1 to 5 using while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6: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i+1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75EC03E-1A3A-4806-B93D-9D7DEC6AF90B}"/>
              </a:ext>
            </a:extLst>
          </p:cNvPr>
          <p:cNvSpPr/>
          <p:nvPr/>
        </p:nvSpPr>
        <p:spPr>
          <a:xfrm>
            <a:off x="7814821" y="1366887"/>
            <a:ext cx="3346515" cy="327110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Output: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1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2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3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4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5</a:t>
            </a:r>
            <a:endParaRPr lang="en-IN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542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BFE8D-F620-F0C7-F458-9F3EB163C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171BC-C6A1-908D-7A50-B0629EC04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#factorial of a number in using while 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int(input("enter a number: "))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= 1 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n&gt;0: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 = f * n 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n = n – 1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print("factorial is ", f)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AC39ED0-07D3-0E1F-19A9-234816C443EA}"/>
              </a:ext>
            </a:extLst>
          </p:cNvPr>
          <p:cNvSpPr/>
          <p:nvPr/>
        </p:nvSpPr>
        <p:spPr>
          <a:xfrm>
            <a:off x="7654566" y="1894788"/>
            <a:ext cx="3478490" cy="28186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 number: 5 factorial is 120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907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A2310-603F-E0FF-4820-3AB98365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1D757-F13B-A380-2CE5-33714FA00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general form/syntax of for is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var in sequence: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loop body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364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04DA-172F-5BA7-1E6F-7EFE971A1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8E8BA-15E0-8F2A-9894-723A8E9FF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144" y="1508289"/>
            <a:ext cx="7871382" cy="4668674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 statement iterates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 a sequence of values.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used 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 a group of statements repeatedly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upon the number of elements in the sequence.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used to work with sequence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string, list and tuple.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the variable takes the value of the item inside the sequence for each iteration.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continues until the last item in the sequence is reached.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body of for loop is separated from the rest of the code using indentation.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055B95-A7F7-E859-2A92-512D23A783FA}"/>
              </a:ext>
            </a:extLst>
          </p:cNvPr>
          <p:cNvSpPr/>
          <p:nvPr/>
        </p:nvSpPr>
        <p:spPr>
          <a:xfrm>
            <a:off x="8795208" y="2026762"/>
            <a:ext cx="3242821" cy="34690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Image 3">
            <a:extLst>
              <a:ext uri="{FF2B5EF4-FFF2-40B4-BE49-F238E27FC236}">
                <a16:creationId xmlns:a16="http://schemas.microsoft.com/office/drawing/2014/main" id="{CC075CB3-A4CF-F55A-81EE-FD9A21A9076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641237" y="1965295"/>
            <a:ext cx="3396792" cy="359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09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4ED4A-9964-D047-21C5-7449782DF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8F849-E410-C28A-A56B-040C25FFE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#Iterating a string using for loop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 = "python"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str: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54E0757-F2F8-C592-CE0C-6B8A04EF099D}"/>
              </a:ext>
            </a:extLst>
          </p:cNvPr>
          <p:cNvSpPr/>
          <p:nvPr/>
        </p:nvSpPr>
        <p:spPr>
          <a:xfrm>
            <a:off x="6721312" y="1690688"/>
            <a:ext cx="4091232" cy="27776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Output:</a:t>
            </a:r>
            <a:endParaRPr lang="en-IN" b="1"/>
          </a:p>
          <a:p>
            <a:r>
              <a:rPr lang="en-US"/>
              <a:t>p y t h o n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129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E758A-A10D-CAD3-FD60-FEE329D4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range( )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26475-CFE0-225A-439E-F007B38AA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built-in function of Python that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a sequence of numbers.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general form of the range expression is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range(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begin,end,step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832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25CAA-9B26-CE7C-BA34-EC8E2A994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range( )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52C6D-6F1E-6BA1-432C-10E0C64A6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106" y="1404594"/>
            <a:ext cx="10401693" cy="4772369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 is the first value in the range; if omitted, the default value is 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is one past the last value in the range; the end value is always required and may not be omitted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is the amount to increment or decrement; if the step parameter is omitted, it defaults to 1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countsup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ones).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begin, end, and step must all be integer expressions; floating-point expressions and other types are not allowed.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927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CB72-E36E-2B88-4131-03A02AFF5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D983C-5280-43DA-293F-77ADBA48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 in range(21, 0, -3):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print(n, end=‘ ‘)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21 18 15 12 9 6 3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711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C3D37-98AA-7F4A-3EFE-F2310F625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97584-3CC7-CA84-4352-75693974A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715"/>
            <a:ext cx="10515600" cy="465924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int(input("Enter the number "))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range(1,11):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 = n*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print(n,"*",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,"=",c)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5A59763-481B-7A9C-58DD-BE6F4C03927F}"/>
              </a:ext>
            </a:extLst>
          </p:cNvPr>
          <p:cNvSpPr/>
          <p:nvPr/>
        </p:nvSpPr>
        <p:spPr>
          <a:xfrm>
            <a:off x="6617615" y="509047"/>
            <a:ext cx="4911365" cy="52813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the number 5 5 * 1 = 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* 2 = 10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* 3 = 15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* 4 = 20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* 5 = 25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* 6 = 30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* 7 = 35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* 8 = 40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* 9 = 45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* 10 = 50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971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81603-E2EB-9BEC-2922-A754688BC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for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4190C-4E0D-7043-44EB-01B68672A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loop within another loop is known as “nested loop”.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allows us to nest any number of for loops inside a for loop.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series of decision are involved, we may have to use more than one if-else statement in the nested form.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894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17BDD-577F-366E-5262-862D89027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for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ADA3-030A-C7DA-B2E3-91E2A159A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general form/syntax of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for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var1 in sequence: #outer loop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for var2 in sequence: #inner loop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block of statements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611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9BD0A-D8B8-8AE1-5854-D0B923743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1A530-A7D3-8990-22CC-15844ED97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9638"/>
            <a:ext cx="10515600" cy="435133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int(input("Enter the number of rows:"))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range(0,n+1):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for j in range(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i,end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‘’)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print()	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730E907-3C3F-AFBD-70C9-E70CB4B3401F}"/>
              </a:ext>
            </a:extLst>
          </p:cNvPr>
          <p:cNvSpPr/>
          <p:nvPr/>
        </p:nvSpPr>
        <p:spPr>
          <a:xfrm>
            <a:off x="7352907" y="1112362"/>
            <a:ext cx="4308050" cy="43513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the number of rows:5 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333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4444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55555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054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77D6-A5FA-E3E5-B5DF-AA9F9E526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Control Statements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8EF4C-14C6-5975-6C7A-8C054DA0D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826" y="1300899"/>
            <a:ext cx="10429973" cy="4876064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control statements change execution from its normal sequence. Python supports different loop control statements. They are: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274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97D85-8C18-29F2-5F4A-D981B79F5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3A0D4-9123-7707-5457-4C1D1F2C4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021"/>
            <a:ext cx="5590880" cy="476294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statement in Python is used 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bring the control out of the loop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transfers execution to the statement immediately following the loop.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64F725-3B20-BE38-1C95-256188CC186D}"/>
              </a:ext>
            </a:extLst>
          </p:cNvPr>
          <p:cNvSpPr/>
          <p:nvPr/>
        </p:nvSpPr>
        <p:spPr>
          <a:xfrm>
            <a:off x="7220931" y="1825625"/>
            <a:ext cx="3978111" cy="32365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Image 4">
            <a:extLst>
              <a:ext uri="{FF2B5EF4-FFF2-40B4-BE49-F238E27FC236}">
                <a16:creationId xmlns:a16="http://schemas.microsoft.com/office/drawing/2014/main" id="{C2D07144-5DE2-E00A-AA0E-5DEA8B85D665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00421" y="1216059"/>
            <a:ext cx="4967925" cy="415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64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7E66B-5DB9-3D79-588D-261B4BBC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C49BE-B050-C085-029A-DF330998B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= 0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count &lt;= 100: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 (count)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count += 1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 count &gt;= 3: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break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967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20A27-4BA4-5717-992C-07C2197B4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E51B5-1F93-189B-202C-206CE0FC8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289"/>
            <a:ext cx="6307318" cy="4668674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continue statement is executed in the loop,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code inside the loop following the continue statement will be skipped for the current iteration and the next iteration of the loop will begin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break, continue statement continues the loop.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A908D2-A536-490B-093E-8386EBF95A60}"/>
              </a:ext>
            </a:extLst>
          </p:cNvPr>
          <p:cNvSpPr/>
          <p:nvPr/>
        </p:nvSpPr>
        <p:spPr>
          <a:xfrm>
            <a:off x="7626284" y="1583703"/>
            <a:ext cx="4185501" cy="36764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949072F-32C8-6C8C-3D9F-414FC7FCBBA7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6284" y="1300899"/>
            <a:ext cx="4185501" cy="427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761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276E-DB43-6CCB-FB7F-C7E02B1F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C2494-C8CA-B4C7-835A-8BAA381A6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862"/>
            <a:ext cx="10515600" cy="467810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#Sample example for continue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x in range(10):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 x % 2 == 0: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continue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print (x)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B971012-A676-CECD-F400-528D456ACDE7}"/>
              </a:ext>
            </a:extLst>
          </p:cNvPr>
          <p:cNvSpPr/>
          <p:nvPr/>
        </p:nvSpPr>
        <p:spPr>
          <a:xfrm>
            <a:off x="7022969" y="1690688"/>
            <a:ext cx="3355942" cy="33997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965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4D41E-9464-A581-6F96-19E63088D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statement: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37170-6D48-FBA9-4C2D-EAC52A79E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972" y="1489435"/>
            <a:ext cx="10448827" cy="4687528"/>
          </a:xfrm>
        </p:spPr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has a special statement called pass, which means do nothing.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may use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 statement in our code in places where the language requires a statement to appear but we wish the program to take no action whatsoever.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statement is a no-operation placeholder that is used when the syntax requires a statement, but have nothing useful to say.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often used to code an empty body for a compound statement.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805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D0521-E701-B60B-C91D-D33BC7F9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F9644-9413-119F-41F1-53721161E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364" y="160880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#Sample example for pass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int(input(“Enter any value”))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x &lt; 0: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pass # Do nothing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print(x)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9A9C3BA-4859-06D9-41AB-06E811FC9285}"/>
              </a:ext>
            </a:extLst>
          </p:cNvPr>
          <p:cNvSpPr/>
          <p:nvPr/>
        </p:nvSpPr>
        <p:spPr>
          <a:xfrm>
            <a:off x="7164371" y="1517715"/>
            <a:ext cx="4025245" cy="36010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any value:5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any value:-5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956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1080</Words>
  <Application>Microsoft Office PowerPoint</Application>
  <PresentationFormat>Widescreen</PresentationFormat>
  <Paragraphs>165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Symbol</vt:lpstr>
      <vt:lpstr>Times New Roman</vt:lpstr>
      <vt:lpstr>Office Theme</vt:lpstr>
      <vt:lpstr>Iteration statements</vt:lpstr>
      <vt:lpstr>Iteration Statements </vt:lpstr>
      <vt:lpstr>while </vt:lpstr>
      <vt:lpstr>Flowchart for while statement</vt:lpstr>
      <vt:lpstr>Example: </vt:lpstr>
      <vt:lpstr>Example: </vt:lpstr>
      <vt:lpstr>for </vt:lpstr>
      <vt:lpstr>Flowchart</vt:lpstr>
      <vt:lpstr>Example: </vt:lpstr>
      <vt:lpstr>range( ) </vt:lpstr>
      <vt:lpstr>range( ) </vt:lpstr>
      <vt:lpstr>Example</vt:lpstr>
      <vt:lpstr>Example: </vt:lpstr>
      <vt:lpstr>nested for </vt:lpstr>
      <vt:lpstr>nested for </vt:lpstr>
      <vt:lpstr>Example: </vt:lpstr>
      <vt:lpstr>Loop Control Statements </vt:lpstr>
      <vt:lpstr>break </vt:lpstr>
      <vt:lpstr>Example</vt:lpstr>
      <vt:lpstr>Continue: </vt:lpstr>
      <vt:lpstr>Continue </vt:lpstr>
      <vt:lpstr>Pass statement: </vt:lpstr>
      <vt:lpstr>Example: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3</cp:revision>
  <dcterms:created xsi:type="dcterms:W3CDTF">2026-08-05T08:15:21Z</dcterms:created>
  <dcterms:modified xsi:type="dcterms:W3CDTF">2026-08-06T10:55:18Z</dcterms:modified>
</cp:coreProperties>
</file>