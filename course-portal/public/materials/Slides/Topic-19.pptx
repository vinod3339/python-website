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3374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77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Python Functions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F4F8"/>
                </a:solidFill>
              </a:rPr>
              <a:t>Lambda • Higher-Order • Generators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77D2"/>
                </a:solidFill>
              </a:rPr>
              <a:t>Lambda Functions: Introduction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E8F4FF"/>
          </a:solidFill>
          <a:ln w="25400">
            <a:solidFill>
              <a:srgbClr val="1F77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7D2"/>
                </a:solidFill>
              </a:rPr>
              <a:t>Lambda: Anonymous function (function without a name)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7D2"/>
                </a:solidFill>
              </a:rPr>
              <a:t>Syntax: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3200400" cy="457200"/>
          </a:xfrm>
          <a:prstGeom prst="rect">
            <a:avLst/>
          </a:prstGeom>
          <a:solidFill>
            <a:srgbClr val="2D2D2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651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arguments: expression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7D2"/>
                </a:solidFill>
              </a:rPr>
              <a:t>Key Characteristics: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66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</a:rPr>
              <a:t>• Single expression (one line)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931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</a:rPr>
              <a:t>• Returns the result of expression automatically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297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</a:rPr>
              <a:t>• Can take any number of arguments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663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</a:rPr>
              <a:t>• Used for short, simple operations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77D2"/>
                </a:solidFill>
              </a:rPr>
              <a:t>Lambda Functions: Examples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Simple Lambda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834640" cy="1737360"/>
          </a:xfrm>
          <a:prstGeom prst="rect">
            <a:avLst/>
          </a:prstGeom>
          <a:solidFill>
            <a:srgbClr val="2D2D2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= lambda x, y: x + y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print(add(3, 5))  # Output: 8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3474720" y="1188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Square Numbers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554480"/>
            <a:ext cx="2834640" cy="1737360"/>
          </a:xfrm>
          <a:prstGeom prst="rect">
            <a:avLst/>
          </a:prstGeom>
          <a:solidFill>
            <a:srgbClr val="2D2D2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164592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 = lambda x: x ** 2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print(square(5))  # Output: 25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92240" y="11887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Lambda with Condition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92240" y="1554480"/>
            <a:ext cx="2834640" cy="1737360"/>
          </a:xfrm>
          <a:prstGeom prst="rect">
            <a:avLst/>
          </a:prstGeom>
          <a:solidFill>
            <a:srgbClr val="2D2D2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0" y="164592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max_val = lambda x, y: x if x &gt; y else y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print(max_val(10, 7))  # Output: 10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77D2"/>
                </a:solidFill>
              </a:rPr>
              <a:t>Lambda: Used with map()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7D2"/>
                </a:solidFill>
              </a:rPr>
              <a:t>map() applies a function to every item in a list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</a:rPr>
              <a:t>Without Lambda: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840480" cy="1645920"/>
          </a:xfrm>
          <a:prstGeom prst="rect">
            <a:avLst/>
          </a:prstGeom>
          <a:solidFill>
            <a:srgbClr val="2D2D2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659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double(x):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 * 2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[1, 2, 3, 4]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map(double, numbers)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print(list(result))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[2, 4, 6, 8]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554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</a:rPr>
              <a:t>With Lambda: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874520"/>
            <a:ext cx="3840480" cy="1645920"/>
          </a:xfrm>
          <a:prstGeom prst="rect">
            <a:avLst/>
          </a:prstGeom>
          <a:solidFill>
            <a:srgbClr val="2D2D2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9659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[1, 2, 3, 4]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map(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lambda x: x * 2,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numbers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print(list(result))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[2, 4, 6, 8]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77D2"/>
                </a:solidFill>
              </a:rPr>
              <a:t>Lambda: Used with filter()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7D2"/>
                </a:solidFill>
              </a:rPr>
              <a:t>filter() keeps items that satisfy a condition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</a:rPr>
              <a:t>Without Lambda: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840480" cy="1645920"/>
          </a:xfrm>
          <a:prstGeom prst="rect">
            <a:avLst/>
          </a:prstGeom>
          <a:solidFill>
            <a:srgbClr val="2D2D2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659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is_even(x):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x % 2 == 0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[1, 2, 3, 4, 5, 6]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filter(is_even, numbers)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print(list(result))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[2, 4, 6]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1554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</a:rPr>
              <a:t>With Lambda: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874520"/>
            <a:ext cx="3840480" cy="1645920"/>
          </a:xfrm>
          <a:prstGeom prst="rect">
            <a:avLst/>
          </a:prstGeom>
          <a:solidFill>
            <a:srgbClr val="2D2D2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9659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[1, 2, 3, 4, 5, 6]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filter(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lambda x: x % 2 == 0,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numbers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print(list(result))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[2, 4, 6]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77D2"/>
                </a:solidFill>
              </a:rPr>
              <a:t>Lambda: Used with sort()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7D2"/>
                </a:solidFill>
              </a:rPr>
              <a:t>Use lambda with sort() to define custom sorting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</a:rPr>
              <a:t>Sort Students by Marks: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7863840" cy="2651760"/>
          </a:xfrm>
          <a:prstGeom prst="rect">
            <a:avLst/>
          </a:prstGeom>
          <a:solidFill>
            <a:srgbClr val="2D2D2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011680"/>
            <a:ext cx="76809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= [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{"name": "Alice", "marks": 85},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{"name": "Bob", "marks": 92},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{"name": "Charlie", "marks": 78}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 by marks (descending)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students.sort(key=lambda s: s["marks"], reverse=True)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 in students: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print(f"{s['name']}: {s['marks']}")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Bob: 92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Alice: 85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Charlie: 78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77D2"/>
                </a:solidFill>
              </a:rPr>
              <a:t>Higher-Order Functions: Definition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FFE8D1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35"/>
                </a:solidFill>
              </a:rPr>
              <a:t>Higher-Order Function: A function that takes/returns other functions as arguments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7D2"/>
                </a:solidFill>
              </a:rPr>
              <a:t>Two Types: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</a:rPr>
              <a:t>1. Functions that TAKE a function as argument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81635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1F1F"/>
                </a:solidFill>
              </a:rPr>
              <a:t>   Example: map(), filter(), sorted()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54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</a:rPr>
              <a:t>2. Functions that RETURN a function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45643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F1F1F"/>
                </a:solidFill>
              </a:rPr>
              <a:t>   Example: Decorators, function factories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77D2"/>
                </a:solidFill>
              </a:rPr>
              <a:t>Higher-Order Functions: map(), filter(), reduce()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98880"/>
            <a:ext cx="822960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7D2"/>
                </a:solidFill>
              </a:rPr>
              <a:t>map():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2560320" cy="1234440"/>
          </a:xfrm>
          <a:prstGeom prst="rect">
            <a:avLst/>
          </a:prstGeom>
          <a:solidFill>
            <a:srgbClr val="2D2D2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002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[1, 2, 3, 4]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squared = list(map(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lambda x: x**2,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numbers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4, 9, 16]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7D2"/>
                </a:solidFill>
              </a:rPr>
              <a:t>filter():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508760"/>
            <a:ext cx="2560320" cy="1234440"/>
          </a:xfrm>
          <a:prstGeom prst="rect">
            <a:avLst/>
          </a:prstGeom>
          <a:solidFill>
            <a:srgbClr val="2D2D2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6002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[1, 2, 3, 4, 5]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evens = list(filter(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lambda x: x % 2 == 0,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numbers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[2, 4]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7D2"/>
                </a:solidFill>
              </a:rPr>
              <a:t>reduce():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508760"/>
            <a:ext cx="2560320" cy="1234440"/>
          </a:xfrm>
          <a:prstGeom prst="rect">
            <a:avLst/>
          </a:prstGeom>
          <a:solidFill>
            <a:srgbClr val="2D2D2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60020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functools import reduce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[1, 2, 3, 4]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= reduce(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lambda x, y: x * y,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numbers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24 (1*2*3*4)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880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F1F1F"/>
                </a:solidFill>
              </a:rPr>
              <a:t>Transforms list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2880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F1F1F"/>
                </a:solidFill>
              </a:rPr>
              <a:t>Filters elements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88036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F1F1F"/>
                </a:solidFill>
              </a:rPr>
              <a:t>Combines to single value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F77D2"/>
                </a:solidFill>
              </a:rPr>
              <a:t>Higher-Order Functions: Function Decorators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7D2"/>
                </a:solidFill>
              </a:rPr>
              <a:t>A decorator wraps a function to enhance its behavior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7863840" cy="3017520"/>
          </a:xfrm>
          <a:prstGeom prst="rect">
            <a:avLst/>
          </a:prstGeom>
          <a:solidFill>
            <a:srgbClr val="2D2D2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my_decorator(func):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wrapper(*args, **kwargs):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print("Before function call")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func(*args, **kwargs)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print("After function call")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result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wrapper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@my_decorator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greet(name):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print(f"Hello, {name}!")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greet("Alice")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Before function call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Hello, Alice!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After function call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77D2"/>
                </a:solidFill>
              </a:rPr>
              <a:t>Generator Functions: Introduction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solidFill>
            <a:srgbClr val="D1F2E8"/>
          </a:solidFill>
          <a:ln w="25400">
            <a:solidFill>
              <a:srgbClr val="00AA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A66"/>
                </a:solidFill>
              </a:rPr>
              <a:t>Generator: A function that yields values one at a time (lazy evaluation)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7D2"/>
                </a:solidFill>
              </a:rPr>
              <a:t>Key Features: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1460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</a:rPr>
              <a:t>• Uses yield keyword instead of return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5292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</a:rPr>
              <a:t>• Pauses execution and resumes from where it left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91256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</a:rPr>
              <a:t>• Memory efficient (doesn't store all values)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529584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</a:rPr>
              <a:t>• Creates an iterator object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867912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1F1F"/>
                </a:solidFill>
              </a:rPr>
              <a:t>• Great for large datasets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77D2"/>
                </a:solidFill>
              </a:rPr>
              <a:t>Generator Functions: Simple Example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7D2"/>
                </a:solidFill>
              </a:rPr>
              <a:t>Example: Count from 1 to 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</a:rPr>
              <a:t>Traditional Function: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840480" cy="1645920"/>
          </a:xfrm>
          <a:prstGeom prst="rect">
            <a:avLst/>
          </a:prstGeom>
          <a:solidFill>
            <a:srgbClr val="2D2D2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9659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count_to(n):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[]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range(1, n+1):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result.append(i)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count_to(5)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[1,2,3,4,5]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All values in memory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663440" y="1554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1F1F"/>
                </a:solidFill>
              </a:rPr>
              <a:t>Generator Function: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874520"/>
            <a:ext cx="3840480" cy="1645920"/>
          </a:xfrm>
          <a:prstGeom prst="rect">
            <a:avLst/>
          </a:prstGeom>
          <a:solidFill>
            <a:srgbClr val="2D2D2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9659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count_to(n):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range(1, n+1):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i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count_to(5)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Generator object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num in numbers: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print(num)  # 1, 2, 3...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77D2"/>
                </a:solidFill>
              </a:rPr>
              <a:t>Generator Functions: More Examples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Fibonacci Sequence: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389120" cy="2103120"/>
          </a:xfrm>
          <a:prstGeom prst="rect">
            <a:avLst/>
          </a:prstGeom>
          <a:solidFill>
            <a:srgbClr val="2D2D2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45920"/>
            <a:ext cx="4206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fibonacci(n):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a, b = 0, 1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= 0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count &lt; n: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a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a, b = b, a + b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 += 1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num in fibonacci(7):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print(num)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0,1,1,2,3,5,8</a:t>
            </a:r>
            <a:endParaRPr lang="en-US" sz="1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4754880" y="1188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Infinite Generator: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931920" cy="2103120"/>
          </a:xfrm>
          <a:prstGeom prst="rect">
            <a:avLst/>
          </a:prstGeom>
          <a:solidFill>
            <a:srgbClr val="2D2D2D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64592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infinite_counter(start=0):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start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n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 += 1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 = infinite_counter()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print(next(counter))  # 0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print(next(counter))  # 1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sz="1050" dirty="0">
                <a:solidFill>
                  <a:schemeClr val="bg1">
                    <a:lumMod val="9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print(next(counter))  # 2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77D2"/>
                </a:solidFill>
              </a:rPr>
              <a:t>Generator Functions: Advantages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D1F2E8"/>
          </a:solidFill>
          <a:ln w="12700">
            <a:solidFill>
              <a:srgbClr val="1F77D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7D2"/>
                </a:solidFill>
              </a:rPr>
              <a:t>Memory Efficient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2763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</a:rPr>
              <a:t>Generates values on-the-fly, not storing entire list in memory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solidFill>
            <a:srgbClr val="E8F4FF"/>
          </a:solidFill>
          <a:ln w="12700">
            <a:solidFill>
              <a:srgbClr val="1F77D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194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7D2"/>
                </a:solidFill>
              </a:rPr>
              <a:t>Faster Execution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49631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</a:rPr>
              <a:t>Doesn't compute all values if only some are needed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D1F2E8"/>
          </a:solidFill>
          <a:ln w="12700">
            <a:solidFill>
              <a:srgbClr val="1F77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063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7D2"/>
                </a:solidFill>
              </a:rPr>
              <a:t>Infinite Sequences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36499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</a:rPr>
              <a:t>Can represent infinite data without memory overflow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E8F4FF"/>
          </a:solidFill>
          <a:ln w="12700">
            <a:solidFill>
              <a:srgbClr val="1F77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7D2"/>
                </a:solidFill>
              </a:rPr>
              <a:t>Readable Code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23367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</a:rPr>
              <a:t>Cleaner and more Pythonic than complex list comprehensions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77D2"/>
                </a:solidFill>
              </a:rPr>
              <a:t>Quick Comparison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381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</a:rPr>
              <a:t>Lambda Functions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743200" cy="3383280"/>
          </a:xfrm>
          <a:prstGeom prst="rect">
            <a:avLst/>
          </a:prstGeom>
          <a:solidFill>
            <a:srgbClr val="FFF4E6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00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</a:rPr>
              <a:t>✓ Single expression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</a:rPr>
              <a:t>✓ No name needed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</a:rPr>
              <a:t>✓ Quick functions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</a:rPr>
              <a:t>✓ Used with map/filter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063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</a:rPr>
              <a:t>✗ Limited complexity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77D2"/>
                </a:solidFill>
              </a:rPr>
              <a:t>Higher-Order Functions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508760"/>
            <a:ext cx="2743200" cy="3383280"/>
          </a:xfrm>
          <a:prstGeom prst="rect">
            <a:avLst/>
          </a:prstGeom>
          <a:solidFill>
            <a:srgbClr val="E8F4FF"/>
          </a:solidFill>
          <a:ln w="12700">
            <a:solidFill>
              <a:srgbClr val="1F77D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600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</a:rPr>
              <a:t>✓ Takes/returns functions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</a:rPr>
              <a:t>✓ Flexible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</a:rPr>
              <a:t>✓ map, filter, reduce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</a:rPr>
              <a:t>✓ Decorators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063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</a:rPr>
              <a:t>✗ More complex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1188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66"/>
                </a:solidFill>
              </a:rPr>
              <a:t>Generator Functions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508760"/>
            <a:ext cx="2743200" cy="3383280"/>
          </a:xfrm>
          <a:prstGeom prst="rect">
            <a:avLst/>
          </a:prstGeom>
          <a:solidFill>
            <a:srgbClr val="D1F2E8"/>
          </a:solidFill>
          <a:ln w="12700">
            <a:solidFill>
              <a:srgbClr val="00AA6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1600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</a:rPr>
              <a:t>✓ Lazy evaluation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1965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</a:rPr>
              <a:t>✓ Memory efficient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</a:rPr>
              <a:t>✓ Infinite sequences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</a:rPr>
              <a:t>✓ Yields values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3063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</a:rPr>
              <a:t>✗ Can't index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77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Key Takeaways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Lambda functions are quick, anonymous functions for simple operations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Use lambda with map(), filter(), and sorted() for elegant functional programming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688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Higher-order functions take/return other functions (map, filter, decorators)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Generators use yield to produce values lazily, saving memory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57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Generators are ideal for large datasets and infinite sequences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2519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• Combine these concepts for powerful, Pythonic code!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1256</Words>
  <Application>Microsoft Office PowerPoint</Application>
  <PresentationFormat>On-screen Show (16:9)</PresentationFormat>
  <Paragraphs>229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 VINOD KUMAR</cp:lastModifiedBy>
  <cp:revision>2</cp:revision>
  <dcterms:created xsi:type="dcterms:W3CDTF">2026-09-17T08:43:18Z</dcterms:created>
  <dcterms:modified xsi:type="dcterms:W3CDTF">2026-09-17T10:57:31Z</dcterms:modified>
</cp:coreProperties>
</file>