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ABD14-90AE-4036-86F4-744482D2E5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3EC6BE-C24A-DFD1-2B63-5630145FF3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281F1B-4BE5-F1A9-547E-41247E773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5540D-02BA-42EA-A3BB-CDACA8EEC2CC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327BEA-8BA2-F244-789A-492E454A2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9B34E2-CAD3-D432-456A-1D30EAC04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CD5E4-1545-44EC-A800-0065636659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5579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13FAF-B272-A00E-C92E-EFA3AD18D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B0E615-8DEC-A913-4715-2D25A965C1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98D0E6-CA0B-246E-A21C-242E1E246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5540D-02BA-42EA-A3BB-CDACA8EEC2CC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651781-F1E6-8378-3CF3-035BB4607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9B391-A84C-F40C-FAAB-D523A3044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CD5E4-1545-44EC-A800-0065636659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0732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53EF6-28B2-12D4-B5B7-05D074B2B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728121-3863-BB18-AE0A-72BCBA6137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EA5F4C-F667-7125-3075-303D95A7D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5540D-02BA-42EA-A3BB-CDACA8EEC2CC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E69A7F-2322-C91D-BAEC-D451E3253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5EFE5E-6B12-F65B-D8B0-D6EE90005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CD5E4-1545-44EC-A800-0065636659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8826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8F0F7-3AF2-A029-2FB0-E2BC1B8B0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48D6BD-0977-6C52-B675-3DD2CD3C3F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96094E-3C4F-BC07-B382-5DC6EFACC0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7E62DC-93E5-4A7C-64CE-664ED037F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5540D-02BA-42EA-A3BB-CDACA8EEC2CC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F1594B-F490-638F-5138-090E4E48E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C9E857-8898-07B7-7D64-E73708FA4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CD5E4-1545-44EC-A800-0065636659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1760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5A2E3-EB0B-3AA7-B91F-9F2D163C0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EA3895-24C2-7039-2176-05479FAB97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5DA0FA-125E-F7CA-21D9-8C8388D564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B8D5B1-CA2C-78B1-CCE9-FCF8449A89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14FD1F-30B5-09E6-7E8B-B8214C2B6A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004B21-0110-AD9C-AC95-1A08C9BB1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5540D-02BA-42EA-A3BB-CDACA8EEC2CC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8008E5-A0BE-3557-894E-DCC5898DE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E433E2-5D84-AAB7-2E58-583217AAE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CD5E4-1545-44EC-A800-0065636659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9027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BFD5F-082E-1A16-D903-15F0FAAA6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942B13-F9D1-7AA8-647C-4CB6377F3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5540D-02BA-42EA-A3BB-CDACA8EEC2CC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97C3E3-EC04-CFD7-7A71-D16F29922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32AD8-3409-4A1B-CD17-5D78F2C8C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CD5E4-1545-44EC-A800-0065636659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5561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4C388A-C59D-04BA-5ACE-49EBAC1CA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5540D-02BA-42EA-A3BB-CDACA8EEC2CC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BA5B65-BC1D-4D41-EB2D-BAD6EC645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B0BB54-5C79-BF8E-01DB-C8F1C4010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CD5E4-1545-44EC-A800-0065636659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59613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633C9-AC76-08D1-3B5D-9B464496A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88733-D92F-C091-9CF8-9CB2A575F1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B7A90A-7538-1100-BC98-372C456984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A6C9AA-E570-F1BB-CDDA-4CDF0B468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5540D-02BA-42EA-A3BB-CDACA8EEC2CC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1E988A-6A3B-3B8D-AB4C-410F2BE44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661EAB-5610-4CB4-E25C-6339D836E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CD5E4-1545-44EC-A800-0065636659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75990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EAC27-A3EB-B14A-52CF-CA003DEB1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D4DB42-4A0F-3BB8-B5A4-6671113669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FF3CB6-D80F-68A4-25A9-705F92804E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73D12B-8D37-4F4A-1391-8E9876294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5540D-02BA-42EA-A3BB-CDACA8EEC2CC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06363D-E5A1-C189-EB2C-0EB981BB4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C7A9A8-6289-A0EB-2378-48CB7E312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CD5E4-1545-44EC-A800-0065636659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2623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D6340-C697-C792-77D9-C4DAE9989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1FC748-836D-1AB6-DAFB-71517231D0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3447B-05AE-BBEE-4A7C-2EC505C16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5540D-02BA-42EA-A3BB-CDACA8EEC2CC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2935A2-74C1-6E23-C2F8-8F924531C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7A33E2-0F02-1C1A-45B6-F38C2B50F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CD5E4-1545-44EC-A800-0065636659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8417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DC3704-4089-8A05-8498-BB18A98DDC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5F4E75-59DD-29B9-882B-C801677095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8CA43B-A998-C16B-B656-D2A324F8B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5540D-02BA-42EA-A3BB-CDACA8EEC2CC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1AC699-D18E-D068-E8B7-B09DE54FD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A76363-C80A-32FE-CD48-1C47DAE78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CD5E4-1545-44EC-A800-0065636659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1353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13993C-EBC7-84E2-6F5C-4D46963A4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00521E-EF36-FA78-1293-7D07CC4C8D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B96FF1-B814-5EF2-FD68-67E172B4F7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F5540D-02BA-42EA-A3BB-CDACA8EEC2CC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FFADD4-F6B6-91C1-EF16-52584B023F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156481-9C1B-BC87-7306-E8094528CF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ACD5E4-1545-44EC-A800-0065636659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4660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chercher.tech/python-programming/list-in-python" TargetMode="External"/><Relationship Id="rId2" Type="http://schemas.openxmlformats.org/officeDocument/2006/relationships/hyperlink" Target="https://chercher.tech/python-programming/python-string-datatypes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8BFC4-C6FE-0AAE-E6C0-3237F0B1AA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Output Statements, Indentation, Command Line Arguments</a:t>
            </a:r>
            <a:b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B80BAA-A400-6B33-F9A3-D155CD5C97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- I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05413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F3F41-B323-ABB9-E912-A0E353B2F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Output Statements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AE1D8C-EAA4-F0F3-1F6A-63D5D71F71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0899"/>
            <a:ext cx="10515600" cy="487606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information or data sent to the computer from the user through the keyboard is called input.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information produced by the computer to the user is called output. Python provides us with the two inbuilt functions as input() and print().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 input(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prompt_message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36040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28174-DC95-4BA9-A8E7-C163673A5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Output Statements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2A621-CD17-27A1-AD85-DC631373B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python will automatically identify whether the user entered a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string,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number, or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list;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Syntax: print(), normally used to print the output.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2101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968141D-14D0-3980-339A-FA2AAA41F4DD}"/>
              </a:ext>
            </a:extLst>
          </p:cNvPr>
          <p:cNvSpPr txBox="1"/>
          <p:nvPr/>
        </p:nvSpPr>
        <p:spPr>
          <a:xfrm>
            <a:off x="725864" y="820132"/>
            <a:ext cx="10567447" cy="4081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9005" marR="1559560" indent="-914400">
              <a:lnSpc>
                <a:spcPct val="207000"/>
              </a:lnSpc>
              <a:spcBef>
                <a:spcPts val="805"/>
              </a:spcBef>
              <a:buNone/>
            </a:pP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Example</a:t>
            </a:r>
            <a:r>
              <a:rPr lang="en-US" sz="2400" b="1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1:</a:t>
            </a:r>
            <a:r>
              <a:rPr lang="en-US" sz="2400" b="1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Method</a:t>
            </a:r>
            <a:r>
              <a:rPr lang="en-US" sz="24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r>
              <a:rPr lang="en-US" sz="24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</a:t>
            </a:r>
            <a:r>
              <a:rPr lang="en-US" sz="24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represent</a:t>
            </a:r>
            <a:r>
              <a:rPr lang="en-US" sz="24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Input()</a:t>
            </a:r>
            <a:r>
              <a:rPr lang="en-US" sz="24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en-US" sz="24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Print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() statements </a:t>
            </a: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x=input("Enter First number:")</a:t>
            </a:r>
            <a:endParaRPr lang="en-IN" sz="24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929005" marR="2310765">
              <a:lnSpc>
                <a:spcPct val="207000"/>
              </a:lnSpc>
              <a:buNone/>
            </a:pP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y=input("Enter</a:t>
            </a:r>
            <a:r>
              <a:rPr lang="en-US" sz="2400" spc="-7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Second</a:t>
            </a:r>
            <a:r>
              <a:rPr lang="en-US" sz="2400" spc="-7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Number:") </a:t>
            </a:r>
          </a:p>
          <a:p>
            <a:pPr marL="929005" marR="2310765">
              <a:lnSpc>
                <a:spcPct val="207000"/>
              </a:lnSpc>
              <a:buNone/>
            </a:pPr>
            <a:r>
              <a:rPr lang="en-US" sz="2400" spc="-1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2400" spc="-1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=int(x)</a:t>
            </a:r>
            <a:endParaRPr lang="en-IN" sz="24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929005" marR="0">
              <a:lnSpc>
                <a:spcPts val="1375"/>
              </a:lnSpc>
              <a:buNone/>
            </a:pPr>
            <a:r>
              <a:rPr lang="en-US" sz="2400" spc="-1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j=int(y)</a:t>
            </a:r>
            <a:endParaRPr lang="en-IN" sz="24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115"/>
              </a:spcBef>
              <a:buNone/>
            </a:pP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IN" sz="24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929005" marR="0">
              <a:buNone/>
            </a:pP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print("The</a:t>
            </a:r>
            <a:r>
              <a:rPr lang="en-US" sz="2400" spc="-2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Sum:", </a:t>
            </a:r>
            <a:r>
              <a:rPr lang="en-US" sz="2400" spc="-2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i+j</a:t>
            </a:r>
            <a:r>
              <a:rPr lang="en-US" sz="2400" spc="-2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en-IN" sz="24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39532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1BE78E-AF42-B1AE-B6A8-6074A3909193}"/>
              </a:ext>
            </a:extLst>
          </p:cNvPr>
          <p:cNvSpPr txBox="1"/>
          <p:nvPr/>
        </p:nvSpPr>
        <p:spPr>
          <a:xfrm>
            <a:off x="1178351" y="650449"/>
            <a:ext cx="10190375" cy="5578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9005" marR="1559560" indent="-914400">
              <a:lnSpc>
                <a:spcPct val="150000"/>
              </a:lnSpc>
              <a:buNone/>
            </a:pP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US" sz="2400" b="1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2:</a:t>
            </a:r>
            <a:r>
              <a:rPr lang="en-US" sz="2400" b="1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en-US" sz="24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24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represent</a:t>
            </a:r>
            <a:r>
              <a:rPr lang="en-US" sz="24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Input()</a:t>
            </a:r>
            <a:r>
              <a:rPr lang="en-US" sz="24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24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25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sz="240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statements </a:t>
            </a: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x=int(input("Enter </a:t>
            </a:r>
            <a:r>
              <a:rPr lang="en-US" sz="24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Fisrt</a:t>
            </a: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number:")) </a:t>
            </a:r>
          </a:p>
          <a:p>
            <a:pPr marL="929005" marR="1559560" indent="-914400">
              <a:lnSpc>
                <a:spcPct val="150000"/>
              </a:lnSpc>
              <a:buNone/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y=int(input("Enter Second Number:"))</a:t>
            </a:r>
            <a:endParaRPr lang="en-IN" sz="24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29005" marR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print("The</a:t>
            </a:r>
            <a:r>
              <a:rPr lang="en-US" sz="2400" spc="-2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Sum:", </a:t>
            </a:r>
            <a:r>
              <a:rPr lang="en-US" sz="2400" spc="-2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i+j</a:t>
            </a:r>
            <a:r>
              <a:rPr lang="en-US" sz="2400" spc="-2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24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>
              <a:lnSpc>
                <a:spcPct val="150000"/>
              </a:lnSpc>
              <a:spcBef>
                <a:spcPts val="105"/>
              </a:spcBef>
              <a:buNone/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605" marR="0">
              <a:lnSpc>
                <a:spcPct val="150000"/>
              </a:lnSpc>
              <a:buNone/>
            </a:pPr>
            <a:r>
              <a:rPr lang="en-US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sz="2400" b="1" kern="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sz="2400" b="1" kern="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US" sz="2400" b="1" kern="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 &amp;</a:t>
            </a:r>
            <a:r>
              <a:rPr lang="en-US" sz="2400" b="1" kern="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kern="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2:</a:t>
            </a:r>
            <a:endParaRPr lang="en-IN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605" marR="4046855">
              <a:lnSpc>
                <a:spcPct val="150000"/>
              </a:lnSpc>
              <a:buNone/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Enter First number: 20</a:t>
            </a:r>
          </a:p>
          <a:p>
            <a:pPr marL="14605" marR="4046855">
              <a:lnSpc>
                <a:spcPct val="150000"/>
              </a:lnSpc>
              <a:buNone/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Enter</a:t>
            </a:r>
            <a:r>
              <a:rPr lang="en-US" sz="2400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Second</a:t>
            </a:r>
            <a:r>
              <a:rPr lang="en-US" sz="2400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Number:</a:t>
            </a:r>
            <a:r>
              <a:rPr lang="en-US" sz="2400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30</a:t>
            </a:r>
          </a:p>
          <a:p>
            <a:pPr marL="14605" marR="4046855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Sum: 50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605" marR="4046855">
              <a:lnSpc>
                <a:spcPct val="150000"/>
              </a:lnSpc>
              <a:buNone/>
            </a:pPr>
            <a:endParaRPr lang="en-IN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46286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D0BB65C-5578-9C37-9094-3B7CD933D01E}"/>
              </a:ext>
            </a:extLst>
          </p:cNvPr>
          <p:cNvSpPr txBox="1"/>
          <p:nvPr/>
        </p:nvSpPr>
        <p:spPr>
          <a:xfrm>
            <a:off x="1150071" y="433633"/>
            <a:ext cx="10510886" cy="5150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9005" marR="0" indent="-914400">
              <a:lnSpc>
                <a:spcPct val="200000"/>
              </a:lnSpc>
              <a:buNone/>
            </a:pP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Example</a:t>
            </a:r>
            <a:r>
              <a:rPr lang="en-US" sz="2400" b="1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3:</a:t>
            </a:r>
            <a:r>
              <a:rPr lang="en-US" sz="2400" b="1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Write</a:t>
            </a:r>
            <a:r>
              <a:rPr lang="en-US" sz="24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sz="24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Python</a:t>
            </a:r>
            <a:r>
              <a:rPr lang="en-US" sz="24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Program</a:t>
            </a:r>
            <a:r>
              <a:rPr lang="en-US" sz="24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</a:t>
            </a:r>
            <a:r>
              <a:rPr lang="en-US" sz="24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read</a:t>
            </a:r>
            <a:r>
              <a:rPr lang="en-US" sz="24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z="24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employee</a:t>
            </a:r>
            <a:r>
              <a:rPr lang="en-US" sz="24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details</a:t>
            </a:r>
            <a:r>
              <a:rPr lang="en-US" sz="24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en-US" sz="24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print the</a:t>
            </a:r>
            <a:r>
              <a:rPr lang="en-US" sz="24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same </a:t>
            </a:r>
            <a:r>
              <a:rPr lang="en-US" sz="24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eno</a:t>
            </a: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=int(input("Enter the </a:t>
            </a:r>
            <a:r>
              <a:rPr lang="en-US" sz="24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Emplyoyee</a:t>
            </a: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number:"))</a:t>
            </a:r>
            <a:endParaRPr lang="en-IN" sz="24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929005" marR="1168400">
              <a:lnSpc>
                <a:spcPct val="200000"/>
              </a:lnSpc>
              <a:buNone/>
            </a:pPr>
            <a:r>
              <a:rPr lang="en-US" sz="24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ename</a:t>
            </a: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=input("Enter the Employee name:") </a:t>
            </a:r>
          </a:p>
          <a:p>
            <a:pPr marL="929005" marR="1168400">
              <a:lnSpc>
                <a:spcPct val="200000"/>
              </a:lnSpc>
              <a:buNone/>
            </a:pPr>
            <a:r>
              <a:rPr lang="en-US" sz="24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esal</a:t>
            </a: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=float(input("Enter the employee salary:")) </a:t>
            </a:r>
          </a:p>
          <a:p>
            <a:pPr marL="929005" marR="1168400">
              <a:lnSpc>
                <a:spcPct val="200000"/>
              </a:lnSpc>
              <a:buNone/>
            </a:pPr>
            <a:r>
              <a:rPr lang="en-US" sz="24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eaddr</a:t>
            </a: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=input("Enter the employee address:") married=bool(input("Is</a:t>
            </a:r>
            <a:r>
              <a:rPr lang="en-US" sz="2400" spc="-7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employee</a:t>
            </a:r>
            <a:r>
              <a:rPr lang="en-US" sz="2400" spc="-7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married?[</a:t>
            </a:r>
            <a:r>
              <a:rPr lang="en-US" sz="24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True|False</a:t>
            </a: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]:")) print("Display the Data of the Employee")</a:t>
            </a:r>
            <a:endParaRPr lang="en-IN" sz="24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24979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2398793-1AC5-6B4B-529A-373D5EA425D8}"/>
              </a:ext>
            </a:extLst>
          </p:cNvPr>
          <p:cNvSpPr txBox="1"/>
          <p:nvPr/>
        </p:nvSpPr>
        <p:spPr>
          <a:xfrm>
            <a:off x="707010" y="641023"/>
            <a:ext cx="8434633" cy="3795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9005" marR="1168400">
              <a:lnSpc>
                <a:spcPct val="207000"/>
              </a:lnSpc>
              <a:buNone/>
            </a:pP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print("</a:t>
            </a:r>
            <a:r>
              <a:rPr lang="en-US" sz="24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Emplyoyeenumber</a:t>
            </a: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:", </a:t>
            </a:r>
            <a:r>
              <a:rPr lang="en-US" sz="24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eno</a:t>
            </a: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en-IN" sz="24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929005" marR="2531110">
              <a:lnSpc>
                <a:spcPct val="207000"/>
              </a:lnSpc>
              <a:buNone/>
            </a:pP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print("Employee name:", </a:t>
            </a:r>
            <a:r>
              <a:rPr lang="en-US" sz="24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ename</a:t>
            </a: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</a:t>
            </a:r>
          </a:p>
          <a:p>
            <a:pPr marL="929005" marR="2531110">
              <a:lnSpc>
                <a:spcPct val="207000"/>
              </a:lnSpc>
              <a:buNone/>
            </a:pP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print("Employee salary:", </a:t>
            </a:r>
            <a:r>
              <a:rPr lang="en-US" sz="24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esal</a:t>
            </a: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en-US" sz="2400" spc="2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pPr marL="929005" marR="2531110">
              <a:lnSpc>
                <a:spcPct val="207000"/>
              </a:lnSpc>
              <a:buNone/>
            </a:pP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print(" Employee address:", </a:t>
            </a:r>
            <a:r>
              <a:rPr lang="en-US" sz="24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eaddr</a:t>
            </a: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</a:t>
            </a:r>
          </a:p>
          <a:p>
            <a:pPr marL="929005" marR="2531110">
              <a:lnSpc>
                <a:spcPct val="207000"/>
              </a:lnSpc>
              <a:buNone/>
            </a:pP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print("Employee</a:t>
            </a:r>
            <a:r>
              <a:rPr lang="en-US" sz="2400" spc="-7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married?:",</a:t>
            </a:r>
            <a:r>
              <a:rPr lang="en-US" sz="2400" spc="-7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married)</a:t>
            </a:r>
            <a:endParaRPr lang="en-IN" sz="24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30022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E45BBD1-D30B-F377-E33F-498D43E27F9F}"/>
              </a:ext>
            </a:extLst>
          </p:cNvPr>
          <p:cNvSpPr txBox="1"/>
          <p:nvPr/>
        </p:nvSpPr>
        <p:spPr>
          <a:xfrm>
            <a:off x="1611984" y="566245"/>
            <a:ext cx="7529659" cy="3281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605" marR="0">
              <a:lnSpc>
                <a:spcPct val="150000"/>
              </a:lnSpc>
              <a:spcBef>
                <a:spcPts val="5"/>
              </a:spcBef>
              <a:buNone/>
            </a:pPr>
            <a:r>
              <a:rPr lang="en-US" sz="2000" b="1" kern="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Output:</a:t>
            </a:r>
            <a:endParaRPr lang="en-IN" sz="2000" b="1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lnSpc>
                <a:spcPct val="150000"/>
              </a:lnSpc>
              <a:spcBef>
                <a:spcPts val="110"/>
              </a:spcBef>
              <a:buNone/>
            </a:pP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IN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4605" marR="3493770" algn="just">
              <a:lnSpc>
                <a:spcPct val="150000"/>
              </a:lnSpc>
              <a:buNone/>
            </a:pPr>
            <a:r>
              <a:rPr lang="en-US" sz="2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Enter</a:t>
            </a:r>
            <a:r>
              <a:rPr lang="en-US" sz="2000" spc="-4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z="2000" spc="-5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Emplyoyee</a:t>
            </a:r>
            <a:r>
              <a:rPr lang="en-US" sz="2000" spc="-4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number:</a:t>
            </a:r>
            <a:r>
              <a:rPr lang="en-US" sz="2000" spc="-4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45</a:t>
            </a:r>
            <a:endParaRPr lang="en-IN" sz="20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4605" marR="3493770" algn="just">
              <a:lnSpc>
                <a:spcPct val="150000"/>
              </a:lnSpc>
              <a:buNone/>
            </a:pPr>
            <a:r>
              <a:rPr lang="en-US" sz="2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Enter the Employee name: Rohith Enter the employee salary: 800000</a:t>
            </a:r>
            <a:endParaRPr lang="en-IN" sz="20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4605" marR="2586355">
              <a:lnSpc>
                <a:spcPct val="150000"/>
              </a:lnSpc>
              <a:spcBef>
                <a:spcPts val="5"/>
              </a:spcBef>
              <a:buNone/>
            </a:pPr>
            <a:r>
              <a:rPr lang="en-US" sz="2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Enter</a:t>
            </a:r>
            <a:r>
              <a:rPr lang="en-US" sz="2000" spc="-3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z="2000" spc="-4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employee</a:t>
            </a:r>
            <a:r>
              <a:rPr lang="en-US" sz="2000" spc="-4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address:</a:t>
            </a:r>
            <a:r>
              <a:rPr lang="en-US" sz="2000" spc="-3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Vizianagaram </a:t>
            </a:r>
            <a:endParaRPr lang="en-IN" sz="20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4605" marR="2586355">
              <a:lnSpc>
                <a:spcPct val="150000"/>
              </a:lnSpc>
              <a:spcBef>
                <a:spcPts val="5"/>
              </a:spcBef>
              <a:buNone/>
            </a:pPr>
            <a:r>
              <a:rPr lang="en-US" sz="2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 employee married?[</a:t>
            </a:r>
            <a:r>
              <a:rPr lang="en-US" sz="20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True|False</a:t>
            </a:r>
            <a:r>
              <a:rPr lang="en-US" sz="2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]:False</a:t>
            </a:r>
            <a:endParaRPr lang="en-IN" sz="20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21234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75DBB4E-C8C0-DD53-CF6F-249619C19597}"/>
              </a:ext>
            </a:extLst>
          </p:cNvPr>
          <p:cNvSpPr txBox="1"/>
          <p:nvPr/>
        </p:nvSpPr>
        <p:spPr>
          <a:xfrm>
            <a:off x="1272619" y="1093510"/>
            <a:ext cx="7869024" cy="3804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605" marR="3522345">
              <a:lnSpc>
                <a:spcPct val="150000"/>
              </a:lnSpc>
              <a:buNone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Display</a:t>
            </a:r>
            <a:r>
              <a:rPr lang="en-US" sz="20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0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en-US" sz="20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2000" spc="-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00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 </a:t>
            </a:r>
            <a:r>
              <a:rPr lang="en-US" sz="20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Emplyoyee</a:t>
            </a:r>
            <a:r>
              <a:rPr lang="en-US" sz="2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number: 45</a:t>
            </a:r>
            <a:endParaRPr lang="en-IN" sz="20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605" marR="3522345">
              <a:lnSpc>
                <a:spcPct val="150000"/>
              </a:lnSpc>
              <a:buNone/>
            </a:pPr>
            <a:r>
              <a:rPr lang="en-US" sz="2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 name Rohith </a:t>
            </a:r>
            <a:endParaRPr lang="en-IN" sz="20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605" marR="3522345">
              <a:lnSpc>
                <a:spcPct val="150000"/>
              </a:lnSpc>
              <a:buNone/>
            </a:pPr>
            <a:r>
              <a:rPr lang="en-US" sz="2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 salary: 800000</a:t>
            </a:r>
            <a:endParaRPr lang="en-IN" sz="20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605" marR="0">
              <a:lnSpc>
                <a:spcPct val="150000"/>
              </a:lnSpc>
              <a:spcBef>
                <a:spcPts val="45"/>
              </a:spcBef>
              <a:buNone/>
            </a:pPr>
            <a:r>
              <a:rPr lang="en-US" sz="2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sz="2000" spc="-1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address:</a:t>
            </a:r>
            <a:r>
              <a:rPr lang="en-US" sz="2000" spc="-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1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Vizianagaram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Employee married: False</a:t>
            </a:r>
            <a:endParaRPr lang="en-I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605" marR="0">
              <a:lnSpc>
                <a:spcPct val="150000"/>
              </a:lnSpc>
              <a:spcBef>
                <a:spcPts val="45"/>
              </a:spcBef>
              <a:buNone/>
            </a:pPr>
            <a:endParaRPr lang="en-IN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40282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3E80E-154D-8FD7-0D30-7FCD81C7E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Indentation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D978B-1A44-C1F8-1F20-D194956496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106" y="1451728"/>
            <a:ext cx="10401693" cy="4725235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uses indentation to indicate a block of code. Indentation refers to the spaces at the beginning of a code line.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6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1: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6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5 &gt; 2: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6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print("Five is greater than two!")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6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6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Five is greater than two!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6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37849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13CC1EF-758D-3086-60F8-836E8F4E2D56}"/>
              </a:ext>
            </a:extLst>
          </p:cNvPr>
          <p:cNvSpPr txBox="1"/>
          <p:nvPr/>
        </p:nvSpPr>
        <p:spPr>
          <a:xfrm>
            <a:off x="1168924" y="1140643"/>
            <a:ext cx="9087439" cy="44909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605" marR="0">
              <a:buNone/>
            </a:pPr>
            <a:r>
              <a:rPr lang="en-US" sz="2000" b="1" kern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Example</a:t>
            </a:r>
            <a:r>
              <a:rPr lang="en-US" sz="2000" b="1" kern="0" spc="-1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kern="0" spc="-2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2:</a:t>
            </a:r>
            <a:endParaRPr lang="en-IN" sz="2000" b="1" kern="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110"/>
              </a:spcBef>
              <a:buNone/>
            </a:pPr>
            <a:r>
              <a:rPr lang="en-US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IN" sz="20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929005" marR="0">
              <a:buNone/>
            </a:pPr>
            <a:r>
              <a:rPr lang="en-US" sz="2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if 5 &gt;</a:t>
            </a:r>
            <a:r>
              <a:rPr lang="en-US" sz="2000" spc="-1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spc="-2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2:</a:t>
            </a:r>
            <a:endParaRPr lang="en-IN" sz="20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105"/>
              </a:spcBef>
              <a:buNone/>
            </a:pPr>
            <a:r>
              <a:rPr lang="en-US" sz="2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IN" sz="20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929005" marR="0">
              <a:buNone/>
            </a:pPr>
            <a:r>
              <a:rPr lang="en-US" sz="2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print("Five</a:t>
            </a:r>
            <a:r>
              <a:rPr lang="en-US" sz="2000" spc="-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 greater</a:t>
            </a:r>
            <a:r>
              <a:rPr lang="en-US" sz="2000" spc="-1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than </a:t>
            </a:r>
            <a:r>
              <a:rPr lang="en-US" sz="2000" spc="-1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two!")</a:t>
            </a:r>
            <a:endParaRPr lang="en-IN" sz="20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125"/>
              </a:spcBef>
              <a:buNone/>
            </a:pPr>
            <a:r>
              <a:rPr lang="en-US" sz="2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IN" sz="20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4605" marR="0">
              <a:buNone/>
            </a:pPr>
            <a:r>
              <a:rPr lang="en-US" sz="2000" b="1" kern="0" spc="-1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Output:</a:t>
            </a:r>
            <a:endParaRPr lang="en-IN" sz="2000" b="1" kern="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105"/>
              </a:spcBef>
              <a:buNone/>
            </a:pPr>
            <a:r>
              <a:rPr lang="en-US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IN" sz="20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4605" marR="0">
              <a:buNone/>
            </a:pPr>
            <a:r>
              <a:rPr lang="en-US" sz="2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print("Five</a:t>
            </a:r>
            <a:r>
              <a:rPr lang="en-US" sz="2000" spc="-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 greater</a:t>
            </a:r>
            <a:r>
              <a:rPr lang="en-US" sz="2000" spc="-1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than </a:t>
            </a:r>
            <a:r>
              <a:rPr lang="en-US" sz="2000" spc="-1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two!")</a:t>
            </a:r>
            <a:endParaRPr lang="en-IN" sz="20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110"/>
              </a:spcBef>
              <a:buNone/>
            </a:pPr>
            <a:r>
              <a:rPr lang="en-US" sz="2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IN" sz="20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5048250" algn="ctr">
              <a:buNone/>
            </a:pPr>
            <a:r>
              <a:rPr lang="en-US" sz="2000" spc="-5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^</a:t>
            </a:r>
            <a:endParaRPr lang="en-IN" sz="20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110"/>
              </a:spcBef>
              <a:buNone/>
            </a:pPr>
            <a:r>
              <a:rPr lang="en-US" sz="2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IN" sz="20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4605" marR="0">
              <a:buNone/>
            </a:pPr>
            <a:r>
              <a:rPr lang="en-US" sz="20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IndentationError</a:t>
            </a:r>
            <a:r>
              <a:rPr lang="en-US" sz="2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r>
              <a:rPr lang="en-US" sz="2000" spc="-2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expected</a:t>
            </a:r>
            <a:r>
              <a:rPr lang="en-US" sz="2000" spc="-1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</a:t>
            </a:r>
            <a:r>
              <a:rPr lang="en-US" sz="2000" spc="-1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indented</a:t>
            </a:r>
            <a:r>
              <a:rPr lang="en-US" sz="2000" spc="-1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block</a:t>
            </a:r>
            <a:endParaRPr lang="en-IN" sz="20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105"/>
              </a:spcBef>
              <a:buNone/>
            </a:pPr>
            <a:r>
              <a:rPr lang="en-US" sz="2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IN" sz="20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73188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ECA58D4-4B92-7990-E828-81ECC43BD064}"/>
              </a:ext>
            </a:extLst>
          </p:cNvPr>
          <p:cNvSpPr txBox="1"/>
          <p:nvPr/>
        </p:nvSpPr>
        <p:spPr>
          <a:xfrm>
            <a:off x="999241" y="688157"/>
            <a:ext cx="8142402" cy="45627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4988560" algn="ctr">
              <a:buNone/>
            </a:pPr>
            <a:r>
              <a:rPr lang="en-US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US" sz="2400" b="1" kern="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kern="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3:</a:t>
            </a:r>
            <a:endParaRPr lang="en-IN" sz="2400" b="1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>
              <a:spcBef>
                <a:spcPts val="110"/>
              </a:spcBef>
              <a:buNone/>
            </a:pP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29005" marR="0">
              <a:buNone/>
            </a:pP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 5 &gt;</a:t>
            </a:r>
            <a:r>
              <a:rPr lang="en-US" sz="2400" spc="-1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2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spc="-25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929005" marR="0">
              <a:buNone/>
            </a:pPr>
            <a:r>
              <a:rPr lang="en-US" sz="2400" spc="-2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print("Five</a:t>
            </a:r>
            <a:r>
              <a:rPr lang="en-US" sz="2400" spc="-4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sz="2400" spc="-4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greater</a:t>
            </a:r>
            <a:r>
              <a:rPr lang="en-US" sz="2400" spc="-5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than</a:t>
            </a:r>
            <a:r>
              <a:rPr lang="en-US" sz="2400" spc="-4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two!") </a:t>
            </a:r>
          </a:p>
          <a:p>
            <a:pPr marL="929005" marR="2736215" indent="38100">
              <a:buNone/>
            </a:pP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 5 &gt; 2:</a:t>
            </a:r>
            <a:endParaRPr lang="en-IN" sz="24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33805" marR="0">
              <a:buNone/>
            </a:pP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print("Five</a:t>
            </a:r>
            <a:r>
              <a:rPr lang="en-US" sz="2400" spc="-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sz="2400" spc="-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greater</a:t>
            </a:r>
            <a:r>
              <a:rPr lang="en-US" sz="2400" spc="-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than</a:t>
            </a:r>
            <a:r>
              <a:rPr lang="en-US" sz="2400" spc="-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1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two!")</a:t>
            </a:r>
            <a:endParaRPr lang="en-IN" sz="24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>
              <a:spcBef>
                <a:spcPts val="110"/>
              </a:spcBef>
              <a:buNone/>
            </a:pP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24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605" marR="0">
              <a:buNone/>
            </a:pPr>
            <a:r>
              <a:rPr lang="en-US" sz="2400" b="1" kern="0" spc="-1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IN" sz="2400" b="1" kern="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>
              <a:spcBef>
                <a:spcPts val="105"/>
              </a:spcBef>
              <a:buNone/>
            </a:pPr>
            <a:r>
              <a:rPr lang="en-US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24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605" marR="0">
              <a:spcBef>
                <a:spcPts val="5"/>
              </a:spcBef>
              <a:buNone/>
            </a:pP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Five</a:t>
            </a:r>
            <a:r>
              <a:rPr lang="en-US" sz="2400" spc="-1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sz="2400" spc="-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greater</a:t>
            </a:r>
            <a:r>
              <a:rPr lang="en-US" sz="2400" spc="-1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than </a:t>
            </a:r>
            <a:r>
              <a:rPr lang="en-US" sz="2400" spc="-2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two!</a:t>
            </a:r>
          </a:p>
          <a:p>
            <a:pPr marL="14605">
              <a:spcBef>
                <a:spcPts val="5"/>
              </a:spcBef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Five is greater than two!</a:t>
            </a:r>
            <a:endParaRPr lang="en-I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605" marR="0">
              <a:spcBef>
                <a:spcPts val="5"/>
              </a:spcBef>
              <a:buNone/>
            </a:pPr>
            <a:endParaRPr lang="en-IN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60516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AB6CAF2-871F-0661-0B4F-43EC182888A9}"/>
              </a:ext>
            </a:extLst>
          </p:cNvPr>
          <p:cNvSpPr txBox="1"/>
          <p:nvPr/>
        </p:nvSpPr>
        <p:spPr>
          <a:xfrm>
            <a:off x="1084082" y="471340"/>
            <a:ext cx="9125147" cy="5183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605" marR="0">
              <a:buNone/>
            </a:pPr>
            <a:r>
              <a:rPr lang="en-US" sz="2400" b="1" kern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US" sz="2400" b="1" kern="0" spc="-1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kern="0" spc="-2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4:</a:t>
            </a:r>
            <a:endParaRPr lang="en-IN" sz="2400" b="1" kern="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>
              <a:spcBef>
                <a:spcPts val="110"/>
              </a:spcBef>
              <a:buNone/>
            </a:pPr>
            <a:r>
              <a:rPr lang="en-US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24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29005" marR="0">
              <a:buNone/>
            </a:pP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 5 &gt;</a:t>
            </a:r>
            <a:r>
              <a:rPr lang="en-US" sz="2400" spc="-1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2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2:</a:t>
            </a:r>
            <a:endParaRPr lang="en-IN" sz="24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33805" marR="2310765" indent="-266700">
              <a:lnSpc>
                <a:spcPct val="208000"/>
              </a:lnSpc>
              <a:buNone/>
            </a:pP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print("Five is greater than two!") </a:t>
            </a:r>
          </a:p>
          <a:p>
            <a:pPr marL="1233805" marR="2310765" indent="-266700">
              <a:lnSpc>
                <a:spcPct val="208000"/>
              </a:lnSpc>
              <a:buNone/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print("Five</a:t>
            </a:r>
            <a:r>
              <a:rPr lang="en-US" sz="2400" spc="-4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sz="2400" spc="-4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greater</a:t>
            </a:r>
            <a:r>
              <a:rPr lang="en-US" sz="2400" spc="-4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than</a:t>
            </a:r>
            <a:r>
              <a:rPr lang="en-US" sz="2400" spc="-4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two!")</a:t>
            </a:r>
            <a:endParaRPr lang="en-IN" sz="24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605" marR="0">
              <a:lnSpc>
                <a:spcPts val="1360"/>
              </a:lnSpc>
              <a:buNone/>
            </a:pPr>
            <a:r>
              <a:rPr lang="en-US" sz="2400" b="1" kern="0" spc="-1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IN" sz="2400" b="1" kern="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>
              <a:spcBef>
                <a:spcPts val="105"/>
              </a:spcBef>
              <a:buNone/>
            </a:pPr>
            <a:r>
              <a:rPr lang="en-US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24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2705" marR="0">
              <a:buNone/>
            </a:pP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print("Five</a:t>
            </a:r>
            <a:r>
              <a:rPr lang="en-US" sz="2400" spc="-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 greater</a:t>
            </a:r>
            <a:r>
              <a:rPr lang="en-US" sz="2400" spc="-1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than </a:t>
            </a:r>
            <a:r>
              <a:rPr lang="en-US" sz="2400" spc="-1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two!")</a:t>
            </a:r>
            <a:endParaRPr lang="en-IN" sz="24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>
              <a:spcBef>
                <a:spcPts val="110"/>
              </a:spcBef>
              <a:buNone/>
            </a:pP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24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7005" marR="0">
              <a:spcBef>
                <a:spcPts val="5"/>
              </a:spcBef>
              <a:buNone/>
            </a:pPr>
            <a:r>
              <a:rPr lang="en-US" sz="2400" spc="-5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^</a:t>
            </a:r>
            <a:endParaRPr lang="en-IN" sz="24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>
              <a:spcBef>
                <a:spcPts val="105"/>
              </a:spcBef>
              <a:buNone/>
            </a:pP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24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605" marR="0">
              <a:buNone/>
            </a:pPr>
            <a:r>
              <a:rPr lang="en-US" sz="24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IndentationError</a:t>
            </a: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400" spc="-1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unexpected</a:t>
            </a:r>
            <a:r>
              <a:rPr lang="en-US" sz="2400" spc="-1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indent</a:t>
            </a:r>
            <a:endParaRPr lang="en-IN" sz="24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85205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BEF607-B2BC-07D0-754F-7B6C6702F1E7}"/>
              </a:ext>
            </a:extLst>
          </p:cNvPr>
          <p:cNvSpPr txBox="1"/>
          <p:nvPr/>
        </p:nvSpPr>
        <p:spPr>
          <a:xfrm>
            <a:off x="1187777" y="829559"/>
            <a:ext cx="7953866" cy="4970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605" marR="0">
              <a:buNone/>
            </a:pPr>
            <a:r>
              <a:rPr lang="en-US" sz="2400" b="1" kern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Example</a:t>
            </a:r>
            <a:r>
              <a:rPr lang="en-US" sz="2400" b="1" kern="0" spc="-1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kern="0" spc="-2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5:</a:t>
            </a:r>
            <a:endParaRPr lang="en-IN" sz="2400" b="1" kern="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120"/>
              </a:spcBef>
              <a:buNone/>
            </a:pPr>
            <a:r>
              <a:rPr lang="en-US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IN" sz="24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86205" marR="0">
              <a:buNone/>
            </a:pP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sz="2400" spc="-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</a:t>
            </a:r>
            <a:r>
              <a:rPr lang="en-US" sz="2400" spc="-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spc="-2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33</a:t>
            </a:r>
            <a:endParaRPr lang="en-IN" sz="24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105"/>
              </a:spcBef>
              <a:buNone/>
            </a:pP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IN" sz="24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86205" marR="0">
              <a:spcBef>
                <a:spcPts val="5"/>
              </a:spcBef>
              <a:buNone/>
            </a:pP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 =</a:t>
            </a:r>
            <a:r>
              <a:rPr lang="en-US" sz="2400" spc="-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spc="-2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200</a:t>
            </a:r>
            <a:endParaRPr lang="en-IN" sz="24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105"/>
              </a:spcBef>
              <a:buNone/>
            </a:pP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IN" sz="24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86205" marR="0">
              <a:buNone/>
            </a:pP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if b &gt;</a:t>
            </a:r>
            <a:r>
              <a:rPr lang="en-US" sz="2400" spc="-1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spc="-2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a:</a:t>
            </a:r>
            <a:endParaRPr lang="en-IN" sz="24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110"/>
              </a:spcBef>
              <a:buNone/>
            </a:pP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IN" sz="24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463040" marR="0">
              <a:buNone/>
            </a:pP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print("b</a:t>
            </a:r>
            <a:r>
              <a:rPr lang="en-US" sz="2400" spc="-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</a:t>
            </a:r>
            <a:r>
              <a:rPr lang="en-US" sz="2400" spc="-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greater</a:t>
            </a:r>
            <a:r>
              <a:rPr lang="en-US" sz="2400" spc="-1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than</a:t>
            </a:r>
            <a:r>
              <a:rPr lang="en-US" sz="2400" spc="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spc="-2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a")</a:t>
            </a:r>
            <a:endParaRPr lang="en-IN" sz="24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110"/>
              </a:spcBef>
              <a:buNone/>
            </a:pP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IN" sz="24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4605" marR="0">
              <a:buNone/>
            </a:pPr>
            <a:r>
              <a:rPr lang="en-US" sz="2400" b="1" kern="0" spc="-1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Output:</a:t>
            </a:r>
            <a:endParaRPr lang="en-IN" sz="2400" b="1" kern="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105"/>
              </a:spcBef>
              <a:buNone/>
            </a:pPr>
            <a:r>
              <a:rPr lang="en-US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IN" sz="24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4605" marR="0">
              <a:spcBef>
                <a:spcPts val="5"/>
              </a:spcBef>
              <a:buNone/>
            </a:pP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</a:t>
            </a:r>
            <a:r>
              <a:rPr lang="en-US" sz="2400" spc="-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</a:t>
            </a:r>
            <a:r>
              <a:rPr lang="en-US" sz="2400" spc="-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greater</a:t>
            </a:r>
            <a:r>
              <a:rPr lang="en-US" sz="2400" spc="-1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than</a:t>
            </a:r>
            <a:r>
              <a:rPr lang="en-US" sz="2400" spc="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spc="-5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endParaRPr lang="en-IN" sz="24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27611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0B047-C262-06D3-A65F-4691463FE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Command Line Arguments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DFF791-A728-1034-6D67-7C4ABEE428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2362" y="1376313"/>
            <a:ext cx="10241437" cy="480065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arguments that are given after the name of the program in the command line shell of the operating system are known as Command Line Arguments.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provides various ways of dealing with these types of arguments. The three most common are: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sys.argv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getopt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module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argparse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module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8833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</TotalTime>
  <Words>677</Words>
  <Application>Microsoft Office PowerPoint</Application>
  <PresentationFormat>Widescreen</PresentationFormat>
  <Paragraphs>107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Office Theme</vt:lpstr>
      <vt:lpstr>Input Output Statements, Indentation, Command Line Arguments </vt:lpstr>
      <vt:lpstr>Input Output Statements </vt:lpstr>
      <vt:lpstr>Input Output Statements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Indentation </vt:lpstr>
      <vt:lpstr>PowerPoint Presentation</vt:lpstr>
      <vt:lpstr>PowerPoint Presentation</vt:lpstr>
      <vt:lpstr>PowerPoint Presentation</vt:lpstr>
      <vt:lpstr>PowerPoint Presentation</vt:lpstr>
      <vt:lpstr>Command Line Arguments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 VINOD KUMAR</dc:creator>
  <cp:lastModifiedBy>S VINOD KUMAR</cp:lastModifiedBy>
  <cp:revision>2</cp:revision>
  <dcterms:created xsi:type="dcterms:W3CDTF">2026-07-23T03:40:12Z</dcterms:created>
  <dcterms:modified xsi:type="dcterms:W3CDTF">2026-07-23T11:07:53Z</dcterms:modified>
</cp:coreProperties>
</file>