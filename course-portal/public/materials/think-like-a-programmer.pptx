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JetBrains Mono" panose="020B0604020202020204" charset="0"/>
      <p:regular r:id="rId16"/>
      <p:bold r:id="rId17"/>
      <p:italic r:id="rId18"/>
      <p:boldItalic r:id="rId19"/>
    </p:embeddedFont>
    <p:embeddedFont>
      <p:font typeface="Urbanist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2C9784E-69DE-4862-AA20-440E13B91925}">
  <a:tblStyle styleId="{32C9784E-69DE-4862-AA20-440E13B9192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295650" y="2198340"/>
            <a:ext cx="56007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Think Like 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7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Programmer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429000" y="4293840"/>
            <a:ext cx="5334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2D3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Mastering the Logic Behind the Code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1057275" y="2462361"/>
            <a:ext cx="105537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Understanding the essence of a "Problem"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1057275" y="3066157"/>
            <a:ext cx="105537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Defining Algorithms and Programming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057275" y="3669952"/>
            <a:ext cx="105537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Why humans outshine AI in problem-solving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057275" y="4273748"/>
            <a:ext cx="105537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Learning through interactive logic challenges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57275" y="4877544"/>
            <a:ext cx="105537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Developing a systematic "Programmer Mindset"</a:t>
            </a:r>
            <a:endParaRPr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0522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109019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712815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316610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920406"/>
            <a:ext cx="2000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What You Will Learn Today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/>
          <p:nvPr/>
        </p:nvSpPr>
        <p:spPr>
          <a:xfrm>
            <a:off x="5619601" y="2612677"/>
            <a:ext cx="9525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3287058" y="2936527"/>
            <a:ext cx="5617733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Foundation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3420814" y="3936652"/>
            <a:ext cx="5350222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2D3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Defining Problems, Solutions, and Steps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95810" y="2077939"/>
            <a:ext cx="1212241" cy="195857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81025" y="1752600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Computers Follow, Not Guess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81025" y="216217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Computers are incredibly intelligent at following instructions, but very poor at guessing intentions.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81025" y="3987105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Insight: Programming requires absolute precision.</a:t>
            </a:r>
            <a:endParaRPr/>
          </a:p>
        </p:txBody>
      </p:sp>
      <p:pic>
        <p:nvPicPr>
          <p:cNvPr id="121" name="Google Shape;12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0" y="1771650"/>
            <a:ext cx="25336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1057275" y="2962275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Vague: "Pick up the bottle."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057275" y="3474690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Precise: "Raise right hand, open fingers, move 5cm forward."</a:t>
            </a:r>
            <a:endParaRPr/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005137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517552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Game 1: The Human Robot</a:t>
            </a:r>
            <a:endParaRPr dirty="0"/>
          </a:p>
        </p:txBody>
      </p:sp>
      <p:sp>
        <p:nvSpPr>
          <p:cNvPr id="127" name="Google Shape;127;p16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What is the Point of a Humanoid Robot? - The Daily Upside">
            <a:extLst>
              <a:ext uri="{FF2B5EF4-FFF2-40B4-BE49-F238E27FC236}">
                <a16:creationId xmlns:a16="http://schemas.microsoft.com/office/drawing/2014/main" id="{09D5D654-76E4-24A6-EBFC-29F2CEC08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635" y="1771651"/>
            <a:ext cx="5571069" cy="313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" y="3128962"/>
            <a:ext cx="537210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509837"/>
            <a:ext cx="537210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806767" y="3624262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Guess the Number</a:t>
            </a:r>
            <a:endParaRPr dirty="0"/>
          </a:p>
        </p:txBody>
      </p:sp>
      <p:sp>
        <p:nvSpPr>
          <p:cNvPr id="136" name="Google Shape;136;p17"/>
          <p:cNvSpPr txBox="1"/>
          <p:nvPr/>
        </p:nvSpPr>
        <p:spPr>
          <a:xfrm>
            <a:off x="923925" y="4138612"/>
            <a:ext cx="46863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Using 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Binary Search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to find answers faster. Good programmers think efficiently, not just quickly.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6464617" y="3624262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Build a Sandwich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581775" y="4138612"/>
            <a:ext cx="468630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Missing a step like "Open the bag" stops the whole process. Coding is about ordering steps correctly.</a:t>
            </a:r>
            <a:endParaRPr sz="1600" dirty="0">
              <a:solidFill>
                <a:schemeClr val="bg1"/>
              </a:solidFill>
            </a:endParaRPr>
          </a:p>
        </p:txBody>
      </p:sp>
      <p:pic>
        <p:nvPicPr>
          <p:cNvPr id="139" name="Google Shape;13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28950" y="28908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86800" y="28908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Strategy and Precision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28850"/>
            <a:ext cx="522922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048125"/>
            <a:ext cx="522922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0075" y="2247900"/>
            <a:ext cx="5191125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6381750" y="2228850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Finding the Rule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381750" y="2638425"/>
            <a:ext cx="52292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Programming is essentially recognizing patterns in data. Once you find the rule, you can automate it.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6581775" y="3638550"/>
            <a:ext cx="507063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Game: Treasure Hunt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581775" y="4048125"/>
            <a:ext cx="48291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"Take 5 steps, Turn left, Look under chair." This simple sequence is an </a:t>
            </a:r>
            <a:r>
              <a:rPr lang="en-US" sz="12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Algorithm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55" name="Google Shape;155;p18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Patterns and Algorithms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581025" y="581025"/>
            <a:ext cx="5190648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The Paper Cup Challenge</a:t>
            </a:r>
            <a:endParaRPr/>
          </a:p>
        </p:txBody>
      </p:sp>
      <p:pic>
        <p:nvPicPr>
          <p:cNvPr id="163" name="Google Shape;16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2395537" y="2066925"/>
            <a:ext cx="13801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Building a Solution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81025" y="2476500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Goal: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Build the tallest tower in 3 minutes using only 8 paper cups.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81025" y="3467100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Programmer Lesson: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There are many solutions to every problem. Some are more stable, some are taller, and some are more efficient.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66775" y="4762500"/>
            <a:ext cx="4371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Problem-solving is about choosing the best design.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57437"/>
            <a:ext cx="5229225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357437"/>
            <a:ext cx="5229225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810339" y="3471862"/>
            <a:ext cx="477059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Debug the Teacher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923925" y="3986212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Identifying mistakes like "Wearing shoes before socks." Finding errors in logic is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Debugging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6611064" y="3471862"/>
            <a:ext cx="477059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AI Challenge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724650" y="3986212"/>
            <a:ext cx="45434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AI can calculate instantly, but can it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Think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? Programming is about Logic and Creativity, not just math.</a:t>
            </a:r>
            <a:endParaRPr/>
          </a:p>
        </p:txBody>
      </p:sp>
      <p:pic>
        <p:nvPicPr>
          <p:cNvPr id="179" name="Google Shape;17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57512" y="27384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58237" y="27384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Debugging and the AI Era</a:t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57437"/>
            <a:ext cx="348615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57437"/>
            <a:ext cx="348615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57437"/>
            <a:ext cx="3486150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853916" y="3471862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Sequence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923925" y="3986212"/>
            <a:ext cx="2800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order of operations. Steps happen one after another.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4625816" y="3471862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Decision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4695825" y="3986212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Using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If-Else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logic to choose different paths based on conditions.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8397716" y="3471862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Clues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8467725" y="3986212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Using deductive reasoning to solve puzzles like an Escape Room.</a:t>
            </a:r>
            <a:endParaRPr/>
          </a:p>
        </p:txBody>
      </p:sp>
      <p:pic>
        <p:nvPicPr>
          <p:cNvPr id="197" name="Google Shape;19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5975" y="27384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875" y="27384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9775" y="27384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Coding Without a Computer</a:t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7" name="Google Shape;207;p22"/>
          <p:cNvGraphicFramePr/>
          <p:nvPr>
            <p:extLst>
              <p:ext uri="{D42A27DB-BD31-4B8C-83A1-F6EECF244321}">
                <p14:modId xmlns:p14="http://schemas.microsoft.com/office/powerpoint/2010/main" val="1806972331"/>
              </p:ext>
            </p:extLst>
          </p:nvPr>
        </p:nvGraphicFramePr>
        <p:xfrm>
          <a:off x="1461155" y="1857080"/>
          <a:ext cx="8917755" cy="3721595"/>
        </p:xfrm>
        <a:graphic>
          <a:graphicData uri="http://schemas.openxmlformats.org/drawingml/2006/table">
            <a:tbl>
              <a:tblPr firstRow="1" bandRow="1">
                <a:noFill/>
                <a:tableStyleId>{32C9784E-69DE-4862-AA20-440E13B91925}</a:tableStyleId>
              </a:tblPr>
              <a:tblGrid>
                <a:gridCol w="3045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2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431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22D3E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The Problem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22D3E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Programmer's Strategy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31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Crossing a river dry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Evaluate constraints, find edge-case solutions.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31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Sorting by height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Implement a Sorting Algorithm (Bubble, Quick).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31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Bridge crossing puzzle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Resource management and optimization.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431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Robot making tea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Breaking down tasks into atomic instructions.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8" name="Google Shape;208;p22"/>
          <p:cNvSpPr/>
          <p:nvPr/>
        </p:nvSpPr>
        <p:spPr>
          <a:xfrm>
            <a:off x="2805112" y="2859285"/>
            <a:ext cx="22479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5053012" y="2859285"/>
            <a:ext cx="433387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2805112" y="3568898"/>
            <a:ext cx="22479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5053012" y="3568898"/>
            <a:ext cx="43338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2805112" y="4264223"/>
            <a:ext cx="22479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5053012" y="4264223"/>
            <a:ext cx="43338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2805112" y="4959548"/>
            <a:ext cx="22479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053012" y="4959548"/>
            <a:ext cx="43338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2805112" y="5654873"/>
            <a:ext cx="22479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053012" y="5654873"/>
            <a:ext cx="43338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Real-Life Problem Solving</a:t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83990" y="2602408"/>
            <a:ext cx="8823870" cy="348406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1873444" y="2992933"/>
            <a:ext cx="844496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The Key Insight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2074515" y="3535858"/>
            <a:ext cx="804282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"Companies don't hire people who can copy code from AI. They hire people who can </a:t>
            </a: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Understand Problems</a:t>
            </a:r>
            <a:r>
              <a:rPr lang="en-US" sz="21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, design solutions, and think logically."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2074515" y="5101679"/>
            <a:ext cx="804282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2D3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Programming is the tool; Problem-Solving is the skill.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/>
        </p:nvSpPr>
        <p:spPr>
          <a:xfrm>
            <a:off x="305276" y="1931640"/>
            <a:ext cx="11581447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581025" y="3684240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2D3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Ready to think like a programmer?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581025" y="443091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End of Session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/>
          <p:nvPr/>
        </p:nvSpPr>
        <p:spPr>
          <a:xfrm>
            <a:off x="581025" y="2132855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581025" y="3115716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581025" y="4098577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581025" y="310619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581025" y="310619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581025" y="408905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81025" y="408905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81025" y="487382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81025" y="487382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81398"/>
            <a:ext cx="14859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1676400" y="2275730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https://lh3.googleusercontent.com/8r34mIJBYp8N8Kto_T3Q3zzlIqt4jAmbkpcYuHB0-4Zor11Do1sifDcmCmsPZfC0sh-9PEnDOgOoSUo0jEG8sKtgsr3Dj2O-P-OUtqg94JKkSb2NeYo=w1440-h810-n-nu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1676400" y="2719536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deepmind.google</a:t>
            </a:r>
            <a:endParaRPr/>
          </a:p>
        </p:txBody>
      </p:sp>
      <p:pic>
        <p:nvPicPr>
          <p:cNvPr id="254" name="Google Shape;25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364259"/>
            <a:ext cx="187642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/>
        </p:nvSpPr>
        <p:spPr>
          <a:xfrm>
            <a:off x="1676400" y="3258591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https://media.istockphoto.com/id/2175611611/vector/abstract-visual-puzzle-educational-mathematics-spatial-reasoning-skills-training-answer.jpg?s=612x612&amp;w=0&amp;k=20&amp;c=jjks1QSIR3XBbR-xdDk3ynOsxUd2GxlD8oWcuWEj4gw=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1676400" y="3702397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pic>
        <p:nvPicPr>
          <p:cNvPr id="257" name="Google Shape;257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2480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1676400" y="4241452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http://www.imthecheftoo.com/cdn/shop/articles/mastering_the_stem_cup_tower_challenge.webp?v=1760645899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1676400" y="4487167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www.imthecheftoo.com</a:t>
            </a:r>
            <a:endParaRPr/>
          </a:p>
        </p:txBody>
      </p:sp>
      <p:pic>
        <p:nvPicPr>
          <p:cNvPr id="260" name="Google Shape;260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503277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1676400" y="5026223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https://cdn.prod.website-files.com/61bb26fe53aeb2a18bbd17e4/6729c62b8db7a1173848db0d_Hero%20Image%201.webp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1676400" y="5271938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www.phaedrasolutions.com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64" name="Google Shape;264;p25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577</Words>
  <Application>Microsoft Office PowerPoint</Application>
  <PresentationFormat>Widescreen</PresentationFormat>
  <Paragraphs>69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JetBrains Mono</vt:lpstr>
      <vt:lpstr>Arial</vt:lpstr>
      <vt:lpstr>Urbanist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 VINOD KUMAR</dc:creator>
  <cp:lastModifiedBy>S VINOD KUMAR</cp:lastModifiedBy>
  <cp:revision>2</cp:revision>
  <dcterms:modified xsi:type="dcterms:W3CDTF">2026-07-14T04:35:27Z</dcterms:modified>
</cp:coreProperties>
</file>